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otham Bold" charset="1" panose="00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Gotham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10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79728" y="2421079"/>
            <a:ext cx="3031128" cy="6446431"/>
            <a:chOff x="0" y="0"/>
            <a:chExt cx="457055" cy="9720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055" cy="972038"/>
            </a:xfrm>
            <a:custGeom>
              <a:avLst/>
              <a:gdLst/>
              <a:ahLst/>
              <a:cxnLst/>
              <a:rect r="r" b="b" t="t" l="l"/>
              <a:pathLst>
                <a:path h="972038" w="457055">
                  <a:moveTo>
                    <a:pt x="58745" y="0"/>
                  </a:moveTo>
                  <a:lnTo>
                    <a:pt x="398309" y="0"/>
                  </a:lnTo>
                  <a:cubicBezTo>
                    <a:pt x="430754" y="0"/>
                    <a:pt x="457055" y="26301"/>
                    <a:pt x="457055" y="58745"/>
                  </a:cubicBezTo>
                  <a:lnTo>
                    <a:pt x="457055" y="913293"/>
                  </a:lnTo>
                  <a:cubicBezTo>
                    <a:pt x="457055" y="928873"/>
                    <a:pt x="450865" y="943815"/>
                    <a:pt x="439849" y="954832"/>
                  </a:cubicBezTo>
                  <a:cubicBezTo>
                    <a:pt x="428832" y="965849"/>
                    <a:pt x="413890" y="972038"/>
                    <a:pt x="398309" y="972038"/>
                  </a:cubicBezTo>
                  <a:lnTo>
                    <a:pt x="58745" y="972038"/>
                  </a:lnTo>
                  <a:cubicBezTo>
                    <a:pt x="43165" y="972038"/>
                    <a:pt x="28223" y="965849"/>
                    <a:pt x="17206" y="954832"/>
                  </a:cubicBezTo>
                  <a:cubicBezTo>
                    <a:pt x="6189" y="943815"/>
                    <a:pt x="0" y="928873"/>
                    <a:pt x="0" y="913293"/>
                  </a:cubicBezTo>
                  <a:lnTo>
                    <a:pt x="0" y="58745"/>
                  </a:lnTo>
                  <a:cubicBezTo>
                    <a:pt x="0" y="43165"/>
                    <a:pt x="6189" y="28223"/>
                    <a:pt x="17206" y="17206"/>
                  </a:cubicBezTo>
                  <a:cubicBezTo>
                    <a:pt x="28223" y="6189"/>
                    <a:pt x="43165" y="0"/>
                    <a:pt x="58745" y="0"/>
                  </a:cubicBezTo>
                  <a:close/>
                </a:path>
              </a:pathLst>
            </a:custGeom>
            <a:blipFill>
              <a:blip r:embed="rId3"/>
              <a:stretch>
                <a:fillRect l="-31249" t="-365" r="-22448" b="-8037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581990" y="2264853"/>
            <a:ext cx="4264754" cy="6878635"/>
          </a:xfrm>
          <a:custGeom>
            <a:avLst/>
            <a:gdLst/>
            <a:ahLst/>
            <a:cxnLst/>
            <a:rect r="r" b="b" t="t" l="l"/>
            <a:pathLst>
              <a:path h="6878635" w="4264754">
                <a:moveTo>
                  <a:pt x="0" y="0"/>
                </a:moveTo>
                <a:lnTo>
                  <a:pt x="4264754" y="0"/>
                </a:lnTo>
                <a:lnTo>
                  <a:pt x="4264754" y="6878636"/>
                </a:lnTo>
                <a:lnTo>
                  <a:pt x="0" y="6878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87820">
            <a:off x="8989736" y="5431575"/>
            <a:ext cx="3602892" cy="2531031"/>
          </a:xfrm>
          <a:custGeom>
            <a:avLst/>
            <a:gdLst/>
            <a:ahLst/>
            <a:cxnLst/>
            <a:rect r="r" b="b" t="t" l="l"/>
            <a:pathLst>
              <a:path h="2531031" w="3602892">
                <a:moveTo>
                  <a:pt x="0" y="0"/>
                </a:moveTo>
                <a:lnTo>
                  <a:pt x="3602892" y="0"/>
                </a:lnTo>
                <a:lnTo>
                  <a:pt x="3602892" y="2531032"/>
                </a:lnTo>
                <a:lnTo>
                  <a:pt x="0" y="2531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80997">
            <a:off x="14939044" y="3076228"/>
            <a:ext cx="2276182" cy="2393690"/>
          </a:xfrm>
          <a:custGeom>
            <a:avLst/>
            <a:gdLst/>
            <a:ahLst/>
            <a:cxnLst/>
            <a:rect r="r" b="b" t="t" l="l"/>
            <a:pathLst>
              <a:path h="2393690" w="2276182">
                <a:moveTo>
                  <a:pt x="0" y="0"/>
                </a:moveTo>
                <a:lnTo>
                  <a:pt x="2276181" y="0"/>
                </a:lnTo>
                <a:lnTo>
                  <a:pt x="2276181" y="2393690"/>
                </a:lnTo>
                <a:lnTo>
                  <a:pt x="0" y="2393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8820" y="1687660"/>
            <a:ext cx="8716087" cy="345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5"/>
              </a:lnSpc>
            </a:pPr>
            <a:r>
              <a:rPr lang="en-US" sz="6881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Combating Fraud in Digital Financial Systems</a:t>
            </a:r>
          </a:p>
          <a:p>
            <a:pPr algn="l">
              <a:lnSpc>
                <a:spcPts val="3882"/>
              </a:lnSpc>
            </a:pPr>
            <a:r>
              <a:rPr lang="en-US" sz="3405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Insights from the PaySim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686854"/>
            <a:ext cx="5889488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AYUSH PRAJAPATI | 20230015 | MNNIT ALLD.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50984"/>
            <a:ext cx="4781364" cy="47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185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254" y="2684765"/>
            <a:ext cx="4988939" cy="608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9852" indent="-209926" lvl="1">
              <a:lnSpc>
                <a:spcPts val="2722"/>
              </a:lnSpc>
              <a:buFont typeface="Arial"/>
              <a:buChar char="•"/>
            </a:pP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Digital financial transactions are increasingly vulnerable to frau</a:t>
            </a: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d.</a:t>
            </a:r>
          </a:p>
          <a:p>
            <a:pPr algn="l">
              <a:lnSpc>
                <a:spcPts val="2722"/>
              </a:lnSpc>
            </a:pPr>
          </a:p>
          <a:p>
            <a:pPr algn="l" marL="419852" indent="-209926" lvl="1">
              <a:lnSpc>
                <a:spcPts val="2722"/>
              </a:lnSpc>
              <a:buFont typeface="Arial"/>
              <a:buChar char="•"/>
            </a:pP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Fraudulent behavior can disrupt trust, impact users, and cause monetary losses.</a:t>
            </a:r>
          </a:p>
          <a:p>
            <a:pPr algn="l">
              <a:lnSpc>
                <a:spcPts val="2722"/>
              </a:lnSpc>
            </a:pPr>
          </a:p>
          <a:p>
            <a:pPr algn="l" marL="419852" indent="-209926" lvl="1">
              <a:lnSpc>
                <a:spcPts val="2722"/>
              </a:lnSpc>
              <a:buFont typeface="Arial"/>
              <a:buChar char="•"/>
            </a:pP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Traditional detection systems often fail to catch evolving fraud patterns.</a:t>
            </a:r>
          </a:p>
          <a:p>
            <a:pPr algn="l">
              <a:lnSpc>
                <a:spcPts val="2722"/>
              </a:lnSpc>
            </a:pPr>
          </a:p>
          <a:p>
            <a:pPr algn="l" marL="419852" indent="-209926" lvl="1">
              <a:lnSpc>
                <a:spcPts val="2722"/>
              </a:lnSpc>
              <a:buFont typeface="Arial"/>
              <a:buChar char="•"/>
            </a:pP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To identify high-risk transaction types, detect suspicious trends and behaviors, and provide data-driven recommendations through visual storytelling using SQL and Power BI — laying the foundation for future fraud detection systems.</a:t>
            </a:r>
          </a:p>
          <a:p>
            <a:pPr algn="ctr">
              <a:lnSpc>
                <a:spcPts val="272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734166" y="1360509"/>
            <a:ext cx="4652466" cy="45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3152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39243" y="2684765"/>
            <a:ext cx="5042311" cy="582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9556" indent="-209778" lvl="1">
              <a:lnSpc>
                <a:spcPts val="2720"/>
              </a:lnSpc>
              <a:buFont typeface="Arial"/>
              <a:buChar char="•"/>
            </a:pPr>
            <a:r>
              <a:rPr lang="en-US" b="true" sz="194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Source</a:t>
            </a: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PaySim — a synthetic dataset simulating mobile money transactions in a financial ecosystem</a:t>
            </a:r>
          </a:p>
          <a:p>
            <a:pPr algn="just">
              <a:lnSpc>
                <a:spcPts val="2720"/>
              </a:lnSpc>
            </a:pPr>
          </a:p>
          <a:p>
            <a:pPr algn="just" marL="419556" indent="-209778" lvl="1">
              <a:lnSpc>
                <a:spcPts val="2720"/>
              </a:lnSpc>
              <a:buFont typeface="Arial"/>
              <a:buChar char="•"/>
            </a:pPr>
            <a:r>
              <a:rPr lang="en-US" b="true" sz="194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Size</a:t>
            </a: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~1 million transactions (1,048,575 rows)</a:t>
            </a:r>
          </a:p>
          <a:p>
            <a:pPr algn="just">
              <a:lnSpc>
                <a:spcPts val="2720"/>
              </a:lnSpc>
            </a:pPr>
          </a:p>
          <a:p>
            <a:pPr algn="just" marL="419556" indent="-209778" lvl="1">
              <a:lnSpc>
                <a:spcPts val="2720"/>
              </a:lnSpc>
              <a:buFont typeface="Arial"/>
              <a:buChar char="•"/>
            </a:pPr>
            <a:r>
              <a:rPr lang="en-US" b="true" sz="194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Key Columns</a:t>
            </a: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</a:t>
            </a:r>
          </a:p>
          <a:p>
            <a:pPr algn="just" marL="839112" indent="-279704" lvl="2">
              <a:lnSpc>
                <a:spcPts val="2720"/>
              </a:lnSpc>
              <a:buFont typeface="Arial"/>
              <a:buChar char="⚬"/>
            </a:pP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type, amount, oldbalanceOrg, newbalanceDest,</a:t>
            </a:r>
          </a:p>
          <a:p>
            <a:pPr algn="just">
              <a:lnSpc>
                <a:spcPts val="2720"/>
              </a:lnSpc>
            </a:pP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          </a:t>
            </a: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isFraud, isFlaggedFraud, etc.</a:t>
            </a:r>
          </a:p>
          <a:p>
            <a:pPr algn="just">
              <a:lnSpc>
                <a:spcPts val="2720"/>
              </a:lnSpc>
            </a:pPr>
          </a:p>
          <a:p>
            <a:pPr algn="just" marL="419556" indent="-209778" lvl="1">
              <a:lnSpc>
                <a:spcPts val="2720"/>
              </a:lnSpc>
              <a:buFont typeface="Arial"/>
              <a:buChar char="•"/>
            </a:pPr>
            <a:r>
              <a:rPr lang="en-US" b="true" sz="194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Purpose</a:t>
            </a:r>
            <a:r>
              <a:rPr lang="en-US" sz="194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Mimics real-world digital financial activity for research in fraud detection</a:t>
            </a:r>
          </a:p>
          <a:p>
            <a:pPr algn="just">
              <a:lnSpc>
                <a:spcPts val="2720"/>
              </a:lnSpc>
            </a:pPr>
          </a:p>
          <a:p>
            <a:pPr algn="just">
              <a:lnSpc>
                <a:spcPts val="27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860883" y="1350984"/>
            <a:ext cx="6123534" cy="46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3108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Approach &amp; Tools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84604" y="2684765"/>
            <a:ext cx="4774696" cy="376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3063" indent="-211532" lvl="1">
              <a:lnSpc>
                <a:spcPts val="2743"/>
              </a:lnSpc>
              <a:buFont typeface="Arial"/>
              <a:buChar char="•"/>
            </a:pPr>
            <a:r>
              <a:rPr lang="en-US" b="true" sz="195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Tools Used</a:t>
            </a:r>
            <a:r>
              <a:rPr lang="en-US" sz="195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MySQL for analysis, Power BI for visualization</a:t>
            </a:r>
          </a:p>
          <a:p>
            <a:pPr algn="just">
              <a:lnSpc>
                <a:spcPts val="2743"/>
              </a:lnSpc>
            </a:pPr>
          </a:p>
          <a:p>
            <a:pPr algn="just" marL="423063" indent="-211532" lvl="1">
              <a:lnSpc>
                <a:spcPts val="2743"/>
              </a:lnSpc>
              <a:buFont typeface="Arial"/>
              <a:buChar char="•"/>
            </a:pPr>
            <a:r>
              <a:rPr lang="en-US" b="true" sz="195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Workflow</a:t>
            </a:r>
            <a:r>
              <a:rPr lang="en-US" sz="195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</a:t>
            </a:r>
          </a:p>
          <a:p>
            <a:pPr algn="just" marL="846126" indent="-282042" lvl="2">
              <a:lnSpc>
                <a:spcPts val="2743"/>
              </a:lnSpc>
              <a:buAutoNum type="alphaLcPeriod" startAt="1"/>
            </a:pPr>
            <a:r>
              <a:rPr lang="en-US" sz="195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Data Cleaning</a:t>
            </a:r>
          </a:p>
          <a:p>
            <a:pPr algn="just" marL="846126" indent="-282042" lvl="2">
              <a:lnSpc>
                <a:spcPts val="2743"/>
              </a:lnSpc>
              <a:buAutoNum type="alphaLcPeriod" startAt="1"/>
            </a:pPr>
            <a:r>
              <a:rPr lang="en-US" sz="195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SQL Analysis &amp; Feature Engineering</a:t>
            </a:r>
          </a:p>
          <a:p>
            <a:pPr algn="just" marL="846126" indent="-282042" lvl="2">
              <a:lnSpc>
                <a:spcPts val="2743"/>
              </a:lnSpc>
              <a:buAutoNum type="alphaLcPeriod" startAt="1"/>
            </a:pPr>
            <a:r>
              <a:rPr lang="en-US" sz="195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Power BI Dashboards</a:t>
            </a:r>
          </a:p>
          <a:p>
            <a:pPr algn="just" marL="846126" indent="-282042" lvl="2">
              <a:lnSpc>
                <a:spcPts val="2743"/>
              </a:lnSpc>
              <a:buAutoNum type="alphaLcPeriod" startAt="1"/>
            </a:pPr>
            <a:r>
              <a:rPr lang="en-US" sz="195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Insights &amp; Business Recommendations</a:t>
            </a:r>
          </a:p>
          <a:p>
            <a:pPr algn="just">
              <a:lnSpc>
                <a:spcPts val="274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93492" y="3618645"/>
            <a:ext cx="10025715" cy="181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8"/>
              </a:lnSpc>
            </a:pPr>
            <a:r>
              <a:rPr lang="en-US" sz="6191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ANALYSIS AND INSIGHTS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5777" y="810846"/>
            <a:ext cx="8353311" cy="4111657"/>
          </a:xfrm>
          <a:custGeom>
            <a:avLst/>
            <a:gdLst/>
            <a:ahLst/>
            <a:cxnLst/>
            <a:rect r="r" b="b" t="t" l="l"/>
            <a:pathLst>
              <a:path h="4111657" w="8353311">
                <a:moveTo>
                  <a:pt x="0" y="0"/>
                </a:moveTo>
                <a:lnTo>
                  <a:pt x="8353311" y="0"/>
                </a:lnTo>
                <a:lnTo>
                  <a:pt x="8353311" y="4111657"/>
                </a:lnTo>
                <a:lnTo>
                  <a:pt x="0" y="4111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" t="-1699" r="-54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91074" y="164022"/>
            <a:ext cx="10505853" cy="44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915" u="sng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Fraud is Highly Concentrated in Two Transaction Types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2639" y="4906270"/>
            <a:ext cx="8103025" cy="500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sz="306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</a:t>
            </a:r>
            <a:r>
              <a:rPr lang="en-US" sz="30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552990" indent="-276495" lvl="1">
              <a:lnSpc>
                <a:spcPts val="3585"/>
              </a:lnSpc>
              <a:buFont typeface="Arial"/>
              <a:buChar char="•"/>
            </a:pPr>
            <a:r>
              <a:rPr lang="en-US" sz="25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 99% of frau</a:t>
            </a:r>
            <a:r>
              <a:rPr lang="en-US" sz="25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dulent transactions are found in just two types:</a:t>
            </a:r>
          </a:p>
          <a:p>
            <a:pPr algn="l">
              <a:lnSpc>
                <a:spcPts val="3585"/>
              </a:lnSpc>
            </a:pPr>
            <a:r>
              <a:rPr lang="en-US" sz="25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➤ CASH_OUT and TRANSFER</a:t>
            </a:r>
          </a:p>
          <a:p>
            <a:pPr algn="l">
              <a:lnSpc>
                <a:spcPts val="3585"/>
              </a:lnSpc>
            </a:pPr>
          </a:p>
          <a:p>
            <a:pPr algn="l" marL="552990" indent="-276495" lvl="1">
              <a:lnSpc>
                <a:spcPts val="3585"/>
              </a:lnSpc>
              <a:buFont typeface="Arial"/>
              <a:buChar char="•"/>
            </a:pPr>
            <a:r>
              <a:rPr lang="en-US" sz="25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TRANSFER has the highest share of high-value frauds.</a:t>
            </a:r>
          </a:p>
          <a:p>
            <a:pPr algn="l">
              <a:lnSpc>
                <a:spcPts val="3585"/>
              </a:lnSpc>
            </a:pPr>
          </a:p>
          <a:p>
            <a:pPr algn="l" marL="552990" indent="-276495" lvl="1">
              <a:lnSpc>
                <a:spcPts val="3585"/>
              </a:lnSpc>
              <a:buFont typeface="Arial"/>
              <a:buChar char="•"/>
            </a:pPr>
            <a:r>
              <a:rPr lang="en-US" sz="25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Other transaction types (PAYMENT, DEBIT, CASH_IN) show almost zero fraud.</a:t>
            </a:r>
          </a:p>
          <a:p>
            <a:pPr algn="l">
              <a:lnSpc>
                <a:spcPts val="3585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9372432" y="4922503"/>
            <a:ext cx="22243" cy="49514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413725" y="5962981"/>
            <a:ext cx="8076157" cy="281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2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gives us a clear starting point.</a:t>
            </a:r>
          </a:p>
          <a:p>
            <a:pPr algn="ctr">
              <a:lnSpc>
                <a:spcPts val="3729"/>
              </a:lnSpc>
            </a:pPr>
            <a:r>
              <a:rPr lang="en-US" sz="2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Instead of spreading our efforts thin, we know that if we just focus our fraud detection efforts on these two transaction types, we could catch almost all the fraud.</a:t>
            </a:r>
          </a:p>
          <a:p>
            <a:pPr algn="ctr">
              <a:lnSpc>
                <a:spcPts val="3729"/>
              </a:lnSpc>
            </a:pPr>
            <a:r>
              <a:rPr lang="en-US" sz="2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It's efficient and targeted.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394675" y="375447"/>
            <a:ext cx="0" cy="949846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50201" y="1017707"/>
            <a:ext cx="5242892" cy="2970972"/>
          </a:xfrm>
          <a:custGeom>
            <a:avLst/>
            <a:gdLst/>
            <a:ahLst/>
            <a:cxnLst/>
            <a:rect r="r" b="b" t="t" l="l"/>
            <a:pathLst>
              <a:path h="2970972" w="5242892">
                <a:moveTo>
                  <a:pt x="0" y="0"/>
                </a:moveTo>
                <a:lnTo>
                  <a:pt x="5242891" y="0"/>
                </a:lnTo>
                <a:lnTo>
                  <a:pt x="5242891" y="2970972"/>
                </a:lnTo>
                <a:lnTo>
                  <a:pt x="0" y="2970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0201" y="375447"/>
            <a:ext cx="5242892" cy="621146"/>
          </a:xfrm>
          <a:custGeom>
            <a:avLst/>
            <a:gdLst/>
            <a:ahLst/>
            <a:cxnLst/>
            <a:rect r="r" b="b" t="t" l="l"/>
            <a:pathLst>
              <a:path h="621146" w="5242892">
                <a:moveTo>
                  <a:pt x="0" y="0"/>
                </a:moveTo>
                <a:lnTo>
                  <a:pt x="5242891" y="0"/>
                </a:lnTo>
                <a:lnTo>
                  <a:pt x="5242891" y="621146"/>
                </a:lnTo>
                <a:lnTo>
                  <a:pt x="0" y="621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64010" y="5743257"/>
            <a:ext cx="5470349" cy="1215525"/>
          </a:xfrm>
          <a:custGeom>
            <a:avLst/>
            <a:gdLst/>
            <a:ahLst/>
            <a:cxnLst/>
            <a:rect r="r" b="b" t="t" l="l"/>
            <a:pathLst>
              <a:path h="1215525" w="5470349">
                <a:moveTo>
                  <a:pt x="0" y="0"/>
                </a:moveTo>
                <a:lnTo>
                  <a:pt x="5470349" y="0"/>
                </a:lnTo>
                <a:lnTo>
                  <a:pt x="5470349" y="1215525"/>
                </a:lnTo>
                <a:lnTo>
                  <a:pt x="0" y="1215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637" t="0" r="-29561" b="-11852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0201" y="7311207"/>
            <a:ext cx="8693799" cy="2562707"/>
            <a:chOff x="0" y="0"/>
            <a:chExt cx="2289725" cy="6749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9725" cy="674952"/>
            </a:xfrm>
            <a:custGeom>
              <a:avLst/>
              <a:gdLst/>
              <a:ahLst/>
              <a:cxnLst/>
              <a:rect r="r" b="b" t="t" l="l"/>
              <a:pathLst>
                <a:path h="674952" w="2289725">
                  <a:moveTo>
                    <a:pt x="0" y="0"/>
                  </a:moveTo>
                  <a:lnTo>
                    <a:pt x="2289725" y="0"/>
                  </a:lnTo>
                  <a:lnTo>
                    <a:pt x="2289725" y="674952"/>
                  </a:lnTo>
                  <a:lnTo>
                    <a:pt x="0" y="674952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9725" cy="713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53680" y="843858"/>
            <a:ext cx="4025989" cy="984625"/>
          </a:xfrm>
          <a:custGeom>
            <a:avLst/>
            <a:gdLst/>
            <a:ahLst/>
            <a:cxnLst/>
            <a:rect r="r" b="b" t="t" l="l"/>
            <a:pathLst>
              <a:path h="984625" w="4025989">
                <a:moveTo>
                  <a:pt x="0" y="0"/>
                </a:moveTo>
                <a:lnTo>
                  <a:pt x="4025989" y="0"/>
                </a:lnTo>
                <a:lnTo>
                  <a:pt x="4025989" y="984625"/>
                </a:lnTo>
                <a:lnTo>
                  <a:pt x="0" y="984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637" t="0" r="-29561" b="-9853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13044" y="447239"/>
            <a:ext cx="1541831" cy="1691817"/>
          </a:xfrm>
          <a:custGeom>
            <a:avLst/>
            <a:gdLst/>
            <a:ahLst/>
            <a:cxnLst/>
            <a:rect r="r" b="b" t="t" l="l"/>
            <a:pathLst>
              <a:path h="1691817" w="1541831">
                <a:moveTo>
                  <a:pt x="0" y="0"/>
                </a:moveTo>
                <a:lnTo>
                  <a:pt x="1541831" y="0"/>
                </a:lnTo>
                <a:lnTo>
                  <a:pt x="1541831" y="1691817"/>
                </a:lnTo>
                <a:lnTo>
                  <a:pt x="0" y="1691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1541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14280" y="361192"/>
            <a:ext cx="1610295" cy="1777864"/>
          </a:xfrm>
          <a:custGeom>
            <a:avLst/>
            <a:gdLst/>
            <a:ahLst/>
            <a:cxnLst/>
            <a:rect r="r" b="b" t="t" l="l"/>
            <a:pathLst>
              <a:path h="1777864" w="1610295">
                <a:moveTo>
                  <a:pt x="0" y="0"/>
                </a:moveTo>
                <a:lnTo>
                  <a:pt x="1610295" y="0"/>
                </a:lnTo>
                <a:lnTo>
                  <a:pt x="1610295" y="1777864"/>
                </a:lnTo>
                <a:lnTo>
                  <a:pt x="0" y="1777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6324" t="-745" r="0" b="-74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14280" y="2445704"/>
            <a:ext cx="7919012" cy="3684714"/>
          </a:xfrm>
          <a:custGeom>
            <a:avLst/>
            <a:gdLst/>
            <a:ahLst/>
            <a:cxnLst/>
            <a:rect r="r" b="b" t="t" l="l"/>
            <a:pathLst>
              <a:path h="3684714" w="7919012">
                <a:moveTo>
                  <a:pt x="0" y="0"/>
                </a:moveTo>
                <a:lnTo>
                  <a:pt x="7919013" y="0"/>
                </a:lnTo>
                <a:lnTo>
                  <a:pt x="7919013" y="3684714"/>
                </a:lnTo>
                <a:lnTo>
                  <a:pt x="0" y="3684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21664" y="337347"/>
            <a:ext cx="3420433" cy="365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sz="191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While exploring fraud trends over time, we spotted something strange.</a:t>
            </a:r>
          </a:p>
          <a:p>
            <a:pPr algn="ctr">
              <a:lnSpc>
                <a:spcPts val="2678"/>
              </a:lnSpc>
            </a:pPr>
            <a:r>
              <a:rPr lang="en-US" sz="191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9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two specific time steps — </a:t>
            </a:r>
            <a:r>
              <a:rPr lang="en-US" b="true" sz="1912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22 and Step 66</a:t>
            </a:r>
            <a:r>
              <a:rPr lang="en-US" b="true" sz="19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— there’s a sharp spike in fraudulent activity.</a:t>
            </a:r>
          </a:p>
          <a:p>
            <a:pPr algn="ctr">
              <a:lnSpc>
                <a:spcPts val="2678"/>
              </a:lnSpc>
            </a:pPr>
            <a:r>
              <a:rPr lang="en-US" b="true" sz="19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It's not a gradual rise; it's more like a sudden burst, which clearly stands out from the rest of the timeline.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0201" y="4398342"/>
            <a:ext cx="8693799" cy="98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19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real-worl</a:t>
            </a:r>
            <a:r>
              <a:rPr lang="en-US" b="true" sz="19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systems, sudden spikes like this often point to a coordinated fraud attempt or a system vulnerability being exploited at a specific time — like a bot attack or a breach.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21581" y="5837181"/>
            <a:ext cx="5151040" cy="98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</a:pPr>
            <a:r>
              <a:rPr lang="en-US" sz="191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Spo</a:t>
            </a:r>
            <a:r>
              <a:rPr lang="en-US" b="true" sz="19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tting them early means we can respond faster and potentially stop large-scale fraud.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0382" y="7203213"/>
            <a:ext cx="8453768" cy="267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🧩 it helps as :</a:t>
            </a:r>
          </a:p>
          <a:p>
            <a:pPr algn="ctr">
              <a:lnSpc>
                <a:spcPts val="2602"/>
              </a:lnSpc>
            </a:pPr>
          </a:p>
          <a:p>
            <a:pPr algn="l" marL="401293" indent="-200646" lvl="1">
              <a:lnSpc>
                <a:spcPts val="2602"/>
              </a:lnSpc>
              <a:buFont typeface="Arial"/>
              <a:buChar char="•"/>
            </a:pPr>
            <a:r>
              <a:rPr lang="en-US" b="true" sz="18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Triggers the nee</a:t>
            </a:r>
            <a:r>
              <a:rPr lang="en-US" b="true" sz="18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for time-based monitoring and alerts</a:t>
            </a:r>
          </a:p>
          <a:p>
            <a:pPr algn="l" marL="401293" indent="-200646" lvl="1">
              <a:lnSpc>
                <a:spcPts val="2602"/>
              </a:lnSpc>
              <a:buFont typeface="Arial"/>
              <a:buChar char="•"/>
            </a:pPr>
            <a:r>
              <a:rPr lang="en-US" b="true" sz="18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Helps fraud prevention teams investigate what happened at those exact time steps</a:t>
            </a:r>
          </a:p>
          <a:p>
            <a:pPr algn="l" marL="401293" indent="-200646" lvl="1">
              <a:lnSpc>
                <a:spcPts val="2602"/>
              </a:lnSpc>
              <a:buFont typeface="Arial"/>
              <a:buChar char="•"/>
            </a:pPr>
            <a:r>
              <a:rPr lang="en-US" b="true" sz="18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guide automation or rule creation to detect similar spikes in the future</a:t>
            </a:r>
          </a:p>
          <a:p>
            <a:pPr algn="ctr">
              <a:lnSpc>
                <a:spcPts val="260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025130" y="958493"/>
            <a:ext cx="3654124" cy="118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</a:pPr>
            <a:r>
              <a:rPr lang="en-US" sz="22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22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System Didn’t Catch a Single Fraud</a:t>
            </a:r>
          </a:p>
          <a:p>
            <a:pPr algn="ctr">
              <a:lnSpc>
                <a:spcPts val="317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842219" y="6481467"/>
            <a:ext cx="3265787" cy="265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192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isn’t just</a:t>
            </a:r>
            <a:r>
              <a:rPr lang="en-US" b="true" sz="192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gap — it’s a total system failure.</a:t>
            </a:r>
          </a:p>
          <a:p>
            <a:pPr algn="ctr">
              <a:lnSpc>
                <a:spcPts val="2688"/>
              </a:lnSpc>
            </a:pPr>
            <a:r>
              <a:rPr lang="en-US" b="true" sz="19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It’s like having a security guard who’s never raised the alarm.</a:t>
            </a:r>
          </a:p>
          <a:p>
            <a:pPr algn="ctr">
              <a:lnSpc>
                <a:spcPts val="2688"/>
              </a:lnSpc>
            </a:pPr>
            <a:r>
              <a:rPr lang="en-US" b="true" sz="19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 alerts, no flags, no intervention — even when fraud was massive.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3355656" y="6519567"/>
            <a:ext cx="0" cy="30805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3603306" y="6351019"/>
            <a:ext cx="4296789" cy="3793015"/>
            <a:chOff x="0" y="0"/>
            <a:chExt cx="1131665" cy="9989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1665" cy="998983"/>
            </a:xfrm>
            <a:custGeom>
              <a:avLst/>
              <a:gdLst/>
              <a:ahLst/>
              <a:cxnLst/>
              <a:rect r="r" b="b" t="t" l="l"/>
              <a:pathLst>
                <a:path h="998983" w="1131665">
                  <a:moveTo>
                    <a:pt x="0" y="0"/>
                  </a:moveTo>
                  <a:lnTo>
                    <a:pt x="1131665" y="0"/>
                  </a:lnTo>
                  <a:lnTo>
                    <a:pt x="1131665" y="998983"/>
                  </a:lnTo>
                  <a:lnTo>
                    <a:pt x="0" y="998983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31665" cy="103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603306" y="6297168"/>
            <a:ext cx="4272293" cy="398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192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</a:t>
            </a:r>
            <a:r>
              <a:rPr lang="en-US" b="true" sz="192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Insight is Crucial:</a:t>
            </a:r>
          </a:p>
          <a:p>
            <a:pPr algn="ctr">
              <a:lnSpc>
                <a:spcPts val="2688"/>
              </a:lnSpc>
            </a:pPr>
          </a:p>
          <a:p>
            <a:pPr algn="l" marL="414528" indent="-207264" lvl="1">
              <a:lnSpc>
                <a:spcPts val="2688"/>
              </a:lnSpc>
              <a:buFont typeface="Arial"/>
              <a:buChar char="•"/>
            </a:pPr>
            <a:r>
              <a:rPr lang="en-US" b="true" sz="19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Highlights a detection logic breakdown or missing rule implementation</a:t>
            </a:r>
          </a:p>
          <a:p>
            <a:pPr algn="l" marL="414528" indent="-207264" lvl="1">
              <a:lnSpc>
                <a:spcPts val="2688"/>
              </a:lnSpc>
              <a:buFont typeface="Arial"/>
              <a:buChar char="•"/>
            </a:pPr>
            <a:r>
              <a:rPr lang="en-US" b="true" sz="19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Shows urgent need for a review of fraud detection thresholds or rules</a:t>
            </a:r>
          </a:p>
          <a:p>
            <a:pPr algn="l" marL="414528" indent="-207264" lvl="1">
              <a:lnSpc>
                <a:spcPts val="2688"/>
              </a:lnSpc>
              <a:buFont typeface="Arial"/>
              <a:buChar char="•"/>
            </a:pPr>
            <a:r>
              <a:rPr lang="en-US" b="true" sz="19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Emphasizes that data analysis helped uncover what the system couldn't</a:t>
            </a:r>
          </a:p>
          <a:p>
            <a:pPr algn="ctr">
              <a:lnSpc>
                <a:spcPts val="268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967018" y="1828483"/>
            <a:ext cx="0" cy="77910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53362" y="453993"/>
            <a:ext cx="5172824" cy="1149414"/>
          </a:xfrm>
          <a:custGeom>
            <a:avLst/>
            <a:gdLst/>
            <a:ahLst/>
            <a:cxnLst/>
            <a:rect r="r" b="b" t="t" l="l"/>
            <a:pathLst>
              <a:path h="1149414" w="5172824">
                <a:moveTo>
                  <a:pt x="0" y="0"/>
                </a:moveTo>
                <a:lnTo>
                  <a:pt x="5172824" y="0"/>
                </a:lnTo>
                <a:lnTo>
                  <a:pt x="5172824" y="1149414"/>
                </a:lnTo>
                <a:lnTo>
                  <a:pt x="0" y="1149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37" t="0" r="-29561" b="-11852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42280" y="7764789"/>
            <a:ext cx="7082074" cy="2232845"/>
            <a:chOff x="0" y="0"/>
            <a:chExt cx="1865238" cy="5880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5238" cy="588074"/>
            </a:xfrm>
            <a:custGeom>
              <a:avLst/>
              <a:gdLst/>
              <a:ahLst/>
              <a:cxnLst/>
              <a:rect r="r" b="b" t="t" l="l"/>
              <a:pathLst>
                <a:path h="588074" w="1865238">
                  <a:moveTo>
                    <a:pt x="17491" y="0"/>
                  </a:moveTo>
                  <a:lnTo>
                    <a:pt x="1847747" y="0"/>
                  </a:lnTo>
                  <a:cubicBezTo>
                    <a:pt x="1852386" y="0"/>
                    <a:pt x="1856835" y="1843"/>
                    <a:pt x="1860115" y="5123"/>
                  </a:cubicBezTo>
                  <a:cubicBezTo>
                    <a:pt x="1863395" y="8403"/>
                    <a:pt x="1865238" y="12852"/>
                    <a:pt x="1865238" y="17491"/>
                  </a:cubicBezTo>
                  <a:lnTo>
                    <a:pt x="1865238" y="570584"/>
                  </a:lnTo>
                  <a:cubicBezTo>
                    <a:pt x="1865238" y="575222"/>
                    <a:pt x="1863395" y="579671"/>
                    <a:pt x="1860115" y="582951"/>
                  </a:cubicBezTo>
                  <a:cubicBezTo>
                    <a:pt x="1856835" y="586232"/>
                    <a:pt x="1852386" y="588074"/>
                    <a:pt x="1847747" y="588074"/>
                  </a:cubicBezTo>
                  <a:lnTo>
                    <a:pt x="17491" y="588074"/>
                  </a:lnTo>
                  <a:cubicBezTo>
                    <a:pt x="12852" y="588074"/>
                    <a:pt x="8403" y="586232"/>
                    <a:pt x="5123" y="582951"/>
                  </a:cubicBezTo>
                  <a:cubicBezTo>
                    <a:pt x="1843" y="579671"/>
                    <a:pt x="0" y="575222"/>
                    <a:pt x="0" y="570584"/>
                  </a:cubicBezTo>
                  <a:lnTo>
                    <a:pt x="0" y="17491"/>
                  </a:lnTo>
                  <a:cubicBezTo>
                    <a:pt x="0" y="12852"/>
                    <a:pt x="1843" y="8403"/>
                    <a:pt x="5123" y="5123"/>
                  </a:cubicBezTo>
                  <a:cubicBezTo>
                    <a:pt x="8403" y="1843"/>
                    <a:pt x="12852" y="0"/>
                    <a:pt x="17491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65238" cy="626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205143" y="666115"/>
            <a:ext cx="9694952" cy="725169"/>
          </a:xfrm>
          <a:custGeom>
            <a:avLst/>
            <a:gdLst/>
            <a:ahLst/>
            <a:cxnLst/>
            <a:rect r="r" b="b" t="t" l="l"/>
            <a:pathLst>
              <a:path h="725169" w="9694952">
                <a:moveTo>
                  <a:pt x="0" y="0"/>
                </a:moveTo>
                <a:lnTo>
                  <a:pt x="9694952" y="0"/>
                </a:lnTo>
                <a:lnTo>
                  <a:pt x="9694952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75" t="-94071" r="0" b="-306966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3327962" y="6538983"/>
            <a:ext cx="0" cy="30805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42280" y="1702911"/>
            <a:ext cx="5043878" cy="3023467"/>
          </a:xfrm>
          <a:custGeom>
            <a:avLst/>
            <a:gdLst/>
            <a:ahLst/>
            <a:cxnLst/>
            <a:rect r="r" b="b" t="t" l="l"/>
            <a:pathLst>
              <a:path h="3023467" w="5043878">
                <a:moveTo>
                  <a:pt x="0" y="0"/>
                </a:moveTo>
                <a:lnTo>
                  <a:pt x="5043878" y="0"/>
                </a:lnTo>
                <a:lnTo>
                  <a:pt x="5043878" y="3023468"/>
                </a:lnTo>
                <a:lnTo>
                  <a:pt x="0" y="302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59" b="-8275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05143" y="1702911"/>
            <a:ext cx="9694952" cy="2109499"/>
          </a:xfrm>
          <a:custGeom>
            <a:avLst/>
            <a:gdLst/>
            <a:ahLst/>
            <a:cxnLst/>
            <a:rect r="r" b="b" t="t" l="l"/>
            <a:pathLst>
              <a:path h="2109499" w="9694952">
                <a:moveTo>
                  <a:pt x="0" y="0"/>
                </a:moveTo>
                <a:lnTo>
                  <a:pt x="9694952" y="0"/>
                </a:lnTo>
                <a:lnTo>
                  <a:pt x="9694952" y="2109499"/>
                </a:lnTo>
                <a:lnTo>
                  <a:pt x="0" y="2109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4600" y="628015"/>
            <a:ext cx="5470349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Users </a:t>
            </a:r>
            <a:r>
              <a:rPr lang="en-US" b="true" sz="2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Account for the </a:t>
            </a:r>
            <a:r>
              <a:rPr lang="en-US" b="true" sz="220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Biggest Fraud Losses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915" y="5095875"/>
            <a:ext cx="6867276" cy="239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9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challenges the common assumption that frau</a:t>
            </a:r>
            <a:r>
              <a:rPr lang="en-US" sz="19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comes from repeat behavior.</a:t>
            </a:r>
          </a:p>
          <a:p>
            <a:pPr algn="l">
              <a:lnSpc>
                <a:spcPts val="2724"/>
              </a:lnSpc>
            </a:pPr>
            <a:r>
              <a:rPr lang="en-US" sz="19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Sometimes, it's a well-timed, single hit that causes the most loss.</a:t>
            </a:r>
          </a:p>
          <a:p>
            <a:pPr algn="l">
              <a:lnSpc>
                <a:spcPts val="2724"/>
              </a:lnSpc>
            </a:pPr>
            <a:r>
              <a:rPr lang="en-US" sz="19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So systems must flag suspicious behavior even for first-time users, especially when the amount is unusually high.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888031" y="2072351"/>
            <a:ext cx="1736323" cy="2284588"/>
          </a:xfrm>
          <a:custGeom>
            <a:avLst/>
            <a:gdLst/>
            <a:ahLst/>
            <a:cxnLst/>
            <a:rect r="r" b="b" t="t" l="l"/>
            <a:pathLst>
              <a:path h="2284588" w="1736323">
                <a:moveTo>
                  <a:pt x="0" y="0"/>
                </a:moveTo>
                <a:lnTo>
                  <a:pt x="1736322" y="0"/>
                </a:lnTo>
                <a:lnTo>
                  <a:pt x="1736322" y="2284588"/>
                </a:lnTo>
                <a:lnTo>
                  <a:pt x="0" y="2284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5935" t="0" r="-343572" b="-3665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26132" y="2200711"/>
            <a:ext cx="1260119" cy="198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1912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💰</a:t>
            </a:r>
            <a:r>
              <a:rPr lang="en-US" b="true" sz="1912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“One shot, huge impact — and the system missed it.”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915" y="7879089"/>
            <a:ext cx="6732337" cy="242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1"/>
              </a:lnSpc>
            </a:pPr>
            <a:r>
              <a:rPr lang="en-US" sz="1979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Business/System</a:t>
            </a:r>
            <a:r>
              <a:rPr lang="en-US" b="true" sz="1979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Implications:</a:t>
            </a:r>
          </a:p>
          <a:p>
            <a:pPr algn="just" marL="427361" indent="-213680" lvl="1">
              <a:lnSpc>
                <a:spcPts val="2771"/>
              </a:lnSpc>
              <a:buFont typeface="Arial"/>
              <a:buChar char="•"/>
            </a:pPr>
            <a:r>
              <a:rPr lang="en-US" b="true" sz="19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for real-time amount-based thresholds</a:t>
            </a:r>
          </a:p>
          <a:p>
            <a:pPr algn="just" marL="427361" indent="-213680" lvl="1">
              <a:lnSpc>
                <a:spcPts val="2771"/>
              </a:lnSpc>
              <a:buFont typeface="Arial"/>
              <a:buChar char="•"/>
            </a:pPr>
            <a:r>
              <a:rPr lang="en-US" b="true" sz="19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Urges detection logic to consider "sudden spikes from unknown users"</a:t>
            </a:r>
          </a:p>
          <a:p>
            <a:pPr algn="just" marL="427361" indent="-213680" lvl="1">
              <a:lnSpc>
                <a:spcPts val="2771"/>
              </a:lnSpc>
              <a:buFont typeface="Arial"/>
              <a:buChar char="•"/>
            </a:pPr>
            <a:r>
              <a:rPr lang="en-US" b="true" sz="19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Highlights the importance of high-value fraud filters</a:t>
            </a:r>
          </a:p>
          <a:p>
            <a:pPr algn="just">
              <a:lnSpc>
                <a:spcPts val="305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362713" y="789551"/>
            <a:ext cx="9334791" cy="38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2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Value Transactions Flow Constantly — Fraud Hides in the Mix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05143" y="4045542"/>
            <a:ext cx="9694952" cy="177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expecte</a:t>
            </a:r>
            <a:r>
              <a:rPr lang="en-US" sz="20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fraud to occur during high-value transaction surges. But interestingly, the biggest spikes in total amount aren’t necessarily the steps where most fraud happens.</a:t>
            </a:r>
          </a:p>
          <a:p>
            <a:pPr algn="l">
              <a:lnSpc>
                <a:spcPts val="2784"/>
              </a:lnSpc>
            </a:pPr>
            <a:r>
              <a:rPr lang="en-US" sz="198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Fraud hides not just in high-value bursts, but also during normal-looking periods — making it even harder to detect without deeper analysis.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329493" y="6089256"/>
            <a:ext cx="4723125" cy="3908378"/>
            <a:chOff x="0" y="0"/>
            <a:chExt cx="1243951" cy="10293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3951" cy="1029367"/>
            </a:xfrm>
            <a:custGeom>
              <a:avLst/>
              <a:gdLst/>
              <a:ahLst/>
              <a:cxnLst/>
              <a:rect r="r" b="b" t="t" l="l"/>
              <a:pathLst>
                <a:path h="1029367" w="1243951">
                  <a:moveTo>
                    <a:pt x="0" y="0"/>
                  </a:moveTo>
                  <a:lnTo>
                    <a:pt x="1243951" y="0"/>
                  </a:lnTo>
                  <a:lnTo>
                    <a:pt x="1243951" y="1029367"/>
                  </a:lnTo>
                  <a:lnTo>
                    <a:pt x="0" y="1029367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43951" cy="10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625816" y="6089256"/>
            <a:ext cx="4274279" cy="3908378"/>
            <a:chOff x="0" y="0"/>
            <a:chExt cx="1125736" cy="10293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5736" cy="1029367"/>
            </a:xfrm>
            <a:custGeom>
              <a:avLst/>
              <a:gdLst/>
              <a:ahLst/>
              <a:cxnLst/>
              <a:rect r="r" b="b" t="t" l="l"/>
              <a:pathLst>
                <a:path h="1029367" w="1125736">
                  <a:moveTo>
                    <a:pt x="0" y="0"/>
                  </a:moveTo>
                  <a:lnTo>
                    <a:pt x="1125736" y="0"/>
                  </a:lnTo>
                  <a:lnTo>
                    <a:pt x="1125736" y="1029367"/>
                  </a:lnTo>
                  <a:lnTo>
                    <a:pt x="0" y="1029367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25736" cy="10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494186" y="6236932"/>
            <a:ext cx="4393740" cy="365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88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⚖️ Why This Insight Matters:</a:t>
            </a:r>
          </a:p>
          <a:p>
            <a:pPr algn="ctr">
              <a:lnSpc>
                <a:spcPts val="2634"/>
              </a:lnSpc>
            </a:pPr>
            <a:r>
              <a:rPr lang="en-US" sz="188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 because a step has large amounts moving doesn’t always mean it’s fraudulent. </a:t>
            </a:r>
            <a:r>
              <a:rPr lang="en-US" b="true" sz="18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just because fraud counts are high doesn’t mean it’s the highest value loss.</a:t>
            </a:r>
          </a:p>
          <a:p>
            <a:pPr algn="ctr">
              <a:lnSpc>
                <a:spcPts val="2634"/>
              </a:lnSpc>
            </a:pPr>
            <a:r>
              <a:rPr lang="en-US" b="true" sz="18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That’s why relying on volume alone is risky — systems need to track both frequency and amount side-by-side.</a:t>
            </a:r>
          </a:p>
          <a:p>
            <a:pPr algn="ctr">
              <a:lnSpc>
                <a:spcPts val="263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766112" y="6098781"/>
            <a:ext cx="3863508" cy="396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082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Business/System Implications:</a:t>
            </a:r>
          </a:p>
          <a:p>
            <a:pPr algn="l" marL="449530" indent="-224765" lvl="1">
              <a:lnSpc>
                <a:spcPts val="2914"/>
              </a:lnSpc>
              <a:buFont typeface="Arial"/>
              <a:buChar char="•"/>
            </a:pPr>
            <a:r>
              <a:rPr lang="en-US" b="true" sz="20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Amount-based thresholds alone are not enough</a:t>
            </a:r>
          </a:p>
          <a:p>
            <a:pPr algn="l" marL="449530" indent="-224765" lvl="1">
              <a:lnSpc>
                <a:spcPts val="2914"/>
              </a:lnSpc>
              <a:buFont typeface="Arial"/>
              <a:buChar char="•"/>
            </a:pPr>
            <a:r>
              <a:rPr lang="en-US" b="true" sz="20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for multi-layered detection: amount + type + time</a:t>
            </a:r>
          </a:p>
          <a:p>
            <a:pPr algn="l" marL="449530" indent="-224765" lvl="1">
              <a:lnSpc>
                <a:spcPts val="2914"/>
              </a:lnSpc>
              <a:buFont typeface="Arial"/>
              <a:buChar char="•"/>
            </a:pPr>
            <a:r>
              <a:rPr lang="en-US" b="true" sz="20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Fraud detection must adapt to behavior, not just totals</a:t>
            </a:r>
          </a:p>
          <a:p>
            <a:pPr algn="ctr">
              <a:lnSpc>
                <a:spcPts val="291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0997">
            <a:off x="12821481" y="3645803"/>
            <a:ext cx="478292" cy="502984"/>
          </a:xfrm>
          <a:custGeom>
            <a:avLst/>
            <a:gdLst/>
            <a:ahLst/>
            <a:cxnLst/>
            <a:rect r="r" b="b" t="t" l="l"/>
            <a:pathLst>
              <a:path h="502984" w="478292">
                <a:moveTo>
                  <a:pt x="0" y="0"/>
                </a:moveTo>
                <a:lnTo>
                  <a:pt x="478292" y="0"/>
                </a:lnTo>
                <a:lnTo>
                  <a:pt x="478292" y="502983"/>
                </a:lnTo>
                <a:lnTo>
                  <a:pt x="0" y="502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2052" y="1652808"/>
            <a:ext cx="3991037" cy="2345752"/>
          </a:xfrm>
          <a:custGeom>
            <a:avLst/>
            <a:gdLst/>
            <a:ahLst/>
            <a:cxnLst/>
            <a:rect r="r" b="b" t="t" l="l"/>
            <a:pathLst>
              <a:path h="2345752" w="3991037">
                <a:moveTo>
                  <a:pt x="0" y="0"/>
                </a:moveTo>
                <a:lnTo>
                  <a:pt x="3991037" y="0"/>
                </a:lnTo>
                <a:lnTo>
                  <a:pt x="3991037" y="2345752"/>
                </a:lnTo>
                <a:lnTo>
                  <a:pt x="0" y="2345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12052" y="5143500"/>
            <a:ext cx="3991037" cy="2793726"/>
          </a:xfrm>
          <a:custGeom>
            <a:avLst/>
            <a:gdLst/>
            <a:ahLst/>
            <a:cxnLst/>
            <a:rect r="r" b="b" t="t" l="l"/>
            <a:pathLst>
              <a:path h="2793726" w="3991037">
                <a:moveTo>
                  <a:pt x="0" y="0"/>
                </a:moveTo>
                <a:lnTo>
                  <a:pt x="3991037" y="0"/>
                </a:lnTo>
                <a:lnTo>
                  <a:pt x="3991037" y="2793726"/>
                </a:lnTo>
                <a:lnTo>
                  <a:pt x="0" y="27937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64240" y="492681"/>
            <a:ext cx="10959521" cy="77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208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let’s dive into CASH_OUT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80997">
            <a:off x="5563943" y="1401316"/>
            <a:ext cx="478292" cy="502984"/>
          </a:xfrm>
          <a:custGeom>
            <a:avLst/>
            <a:gdLst/>
            <a:ahLst/>
            <a:cxnLst/>
            <a:rect r="r" b="b" t="t" l="l"/>
            <a:pathLst>
              <a:path h="502984" w="478292">
                <a:moveTo>
                  <a:pt x="0" y="0"/>
                </a:moveTo>
                <a:lnTo>
                  <a:pt x="478291" y="0"/>
                </a:lnTo>
                <a:lnTo>
                  <a:pt x="478291" y="502984"/>
                </a:lnTo>
                <a:lnTo>
                  <a:pt x="0" y="502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422755" y="5985027"/>
            <a:ext cx="10190830" cy="2043439"/>
            <a:chOff x="0" y="0"/>
            <a:chExt cx="2684005" cy="538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84005" cy="538190"/>
            </a:xfrm>
            <a:custGeom>
              <a:avLst/>
              <a:gdLst/>
              <a:ahLst/>
              <a:cxnLst/>
              <a:rect r="r" b="b" t="t" l="l"/>
              <a:pathLst>
                <a:path h="538190" w="2684005">
                  <a:moveTo>
                    <a:pt x="0" y="0"/>
                  </a:moveTo>
                  <a:lnTo>
                    <a:pt x="2684005" y="0"/>
                  </a:lnTo>
                  <a:lnTo>
                    <a:pt x="2684005" y="538190"/>
                  </a:lnTo>
                  <a:lnTo>
                    <a:pt x="0" y="538190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84005" cy="576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819614" y="6173996"/>
            <a:ext cx="5397111" cy="160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🚨 “Zero flagge</a:t>
            </a:r>
            <a:r>
              <a:rPr lang="en-US" b="true" sz="30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, yet ₹680M vanished through Cash Out”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22755" y="1652808"/>
            <a:ext cx="10190830" cy="3941694"/>
            <a:chOff x="0" y="0"/>
            <a:chExt cx="2684005" cy="10381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84005" cy="1038142"/>
            </a:xfrm>
            <a:custGeom>
              <a:avLst/>
              <a:gdLst/>
              <a:ahLst/>
              <a:cxnLst/>
              <a:rect r="r" b="b" t="t" l="l"/>
              <a:pathLst>
                <a:path h="1038142" w="2684005">
                  <a:moveTo>
                    <a:pt x="0" y="0"/>
                  </a:moveTo>
                  <a:lnTo>
                    <a:pt x="2684005" y="0"/>
                  </a:lnTo>
                  <a:lnTo>
                    <a:pt x="2684005" y="1038142"/>
                  </a:lnTo>
                  <a:lnTo>
                    <a:pt x="0" y="1038142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84005" cy="1076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663516" y="1916907"/>
            <a:ext cx="9731195" cy="331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31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“Cash Out” is the final step in many fraudulent chains — once money is cashed out, it's gone.</a:t>
            </a:r>
          </a:p>
          <a:p>
            <a:pPr algn="ctr">
              <a:lnSpc>
                <a:spcPts val="4403"/>
              </a:lnSpc>
            </a:pPr>
            <a:r>
              <a:rPr lang="en-US" sz="31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yet, not a single one of these transactions was flagged.</a:t>
            </a:r>
          </a:p>
          <a:p>
            <a:pPr algn="ctr">
              <a:lnSpc>
                <a:spcPts val="4403"/>
              </a:lnSpc>
            </a:pPr>
            <a:r>
              <a:rPr lang="en-US" sz="31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This isn’t just a miss. It’s a systemic blind spot in one of the most critical transaction types.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580997">
            <a:off x="1429575" y="4983248"/>
            <a:ext cx="478292" cy="502984"/>
          </a:xfrm>
          <a:custGeom>
            <a:avLst/>
            <a:gdLst/>
            <a:ahLst/>
            <a:cxnLst/>
            <a:rect r="r" b="b" t="t" l="l"/>
            <a:pathLst>
              <a:path h="502984" w="478292">
                <a:moveTo>
                  <a:pt x="0" y="0"/>
                </a:moveTo>
                <a:lnTo>
                  <a:pt x="478292" y="0"/>
                </a:lnTo>
                <a:lnTo>
                  <a:pt x="478292" y="502984"/>
                </a:lnTo>
                <a:lnTo>
                  <a:pt x="0" y="502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358" y="3269367"/>
            <a:ext cx="7935205" cy="2161236"/>
            <a:chOff x="0" y="0"/>
            <a:chExt cx="2089930" cy="5692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9930" cy="569214"/>
            </a:xfrm>
            <a:custGeom>
              <a:avLst/>
              <a:gdLst/>
              <a:ahLst/>
              <a:cxnLst/>
              <a:rect r="r" b="b" t="t" l="l"/>
              <a:pathLst>
                <a:path h="569214" w="2089930">
                  <a:moveTo>
                    <a:pt x="15610" y="0"/>
                  </a:moveTo>
                  <a:lnTo>
                    <a:pt x="2074320" y="0"/>
                  </a:lnTo>
                  <a:cubicBezTo>
                    <a:pt x="2082941" y="0"/>
                    <a:pt x="2089930" y="6989"/>
                    <a:pt x="2089930" y="15610"/>
                  </a:cubicBezTo>
                  <a:lnTo>
                    <a:pt x="2089930" y="553604"/>
                  </a:lnTo>
                  <a:cubicBezTo>
                    <a:pt x="2089930" y="557744"/>
                    <a:pt x="2088286" y="561715"/>
                    <a:pt x="2085358" y="564642"/>
                  </a:cubicBezTo>
                  <a:cubicBezTo>
                    <a:pt x="2082431" y="567570"/>
                    <a:pt x="2078460" y="569214"/>
                    <a:pt x="2074320" y="569214"/>
                  </a:cubicBezTo>
                  <a:lnTo>
                    <a:pt x="15610" y="569214"/>
                  </a:lnTo>
                  <a:cubicBezTo>
                    <a:pt x="11470" y="569214"/>
                    <a:pt x="7500" y="567570"/>
                    <a:pt x="4572" y="564642"/>
                  </a:cubicBezTo>
                  <a:cubicBezTo>
                    <a:pt x="1645" y="561715"/>
                    <a:pt x="0" y="557744"/>
                    <a:pt x="0" y="553604"/>
                  </a:cubicBezTo>
                  <a:lnTo>
                    <a:pt x="0" y="15610"/>
                  </a:lnTo>
                  <a:cubicBezTo>
                    <a:pt x="0" y="6989"/>
                    <a:pt x="6989" y="0"/>
                    <a:pt x="15610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89930" cy="607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4358" y="435157"/>
            <a:ext cx="7935205" cy="593543"/>
          </a:xfrm>
          <a:custGeom>
            <a:avLst/>
            <a:gdLst/>
            <a:ahLst/>
            <a:cxnLst/>
            <a:rect r="r" b="b" t="t" l="l"/>
            <a:pathLst>
              <a:path h="593543" w="7935205">
                <a:moveTo>
                  <a:pt x="0" y="0"/>
                </a:moveTo>
                <a:lnTo>
                  <a:pt x="7935204" y="0"/>
                </a:lnTo>
                <a:lnTo>
                  <a:pt x="7935204" y="593543"/>
                </a:lnTo>
                <a:lnTo>
                  <a:pt x="0" y="593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75" t="-94071" r="0" b="-306966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920011" y="683962"/>
            <a:ext cx="19050" cy="93136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54358" y="5568715"/>
            <a:ext cx="7935205" cy="4428919"/>
            <a:chOff x="0" y="0"/>
            <a:chExt cx="2089930" cy="1166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9930" cy="1166464"/>
            </a:xfrm>
            <a:custGeom>
              <a:avLst/>
              <a:gdLst/>
              <a:ahLst/>
              <a:cxnLst/>
              <a:rect r="r" b="b" t="t" l="l"/>
              <a:pathLst>
                <a:path h="1166464" w="2089930">
                  <a:moveTo>
                    <a:pt x="0" y="0"/>
                  </a:moveTo>
                  <a:lnTo>
                    <a:pt x="2089930" y="0"/>
                  </a:lnTo>
                  <a:lnTo>
                    <a:pt x="2089930" y="1166464"/>
                  </a:lnTo>
                  <a:lnTo>
                    <a:pt x="0" y="1166464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89930" cy="1204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58" y="1200383"/>
            <a:ext cx="7935205" cy="1930872"/>
          </a:xfrm>
          <a:custGeom>
            <a:avLst/>
            <a:gdLst/>
            <a:ahLst/>
            <a:cxnLst/>
            <a:rect r="r" b="b" t="t" l="l"/>
            <a:pathLst>
              <a:path h="1930872" w="7935205">
                <a:moveTo>
                  <a:pt x="0" y="0"/>
                </a:moveTo>
                <a:lnTo>
                  <a:pt x="7935204" y="0"/>
                </a:lnTo>
                <a:lnTo>
                  <a:pt x="7935204" y="1930871"/>
                </a:lnTo>
                <a:lnTo>
                  <a:pt x="0" y="1930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33394" y="1698326"/>
            <a:ext cx="5170716" cy="2237230"/>
          </a:xfrm>
          <a:custGeom>
            <a:avLst/>
            <a:gdLst/>
            <a:ahLst/>
            <a:cxnLst/>
            <a:rect r="r" b="b" t="t" l="l"/>
            <a:pathLst>
              <a:path h="2237230" w="5170716">
                <a:moveTo>
                  <a:pt x="0" y="0"/>
                </a:moveTo>
                <a:lnTo>
                  <a:pt x="5170716" y="0"/>
                </a:lnTo>
                <a:lnTo>
                  <a:pt x="5170716" y="2237230"/>
                </a:lnTo>
                <a:lnTo>
                  <a:pt x="0" y="2237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80" r="-28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0526" y="492988"/>
            <a:ext cx="9022868" cy="43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“Who’s Behin</a:t>
            </a:r>
            <a:r>
              <a:rPr lang="en-US" b="true" sz="25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the Cash Out Frauds?”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3443" y="3319950"/>
            <a:ext cx="7617034" cy="224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18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Surprisingly, when we examine</a:t>
            </a:r>
            <a:r>
              <a:rPr lang="en-US" b="true" sz="18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who’s behind the Cash Out fraud, we didn’t find one or two culprits — we found dozens of users, each causing similar levels of loss </a:t>
            </a:r>
            <a:r>
              <a:rPr lang="en-US" b="true" sz="184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(~₹10M)</a:t>
            </a:r>
            <a:r>
              <a:rPr lang="en-US" b="true" sz="18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ctr">
              <a:lnSpc>
                <a:spcPts val="2577"/>
              </a:lnSpc>
            </a:pPr>
            <a:r>
              <a:rPr lang="en-US" b="true" sz="18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indicates widespread exploitation of the system — not a few masterminds, but many users abusing it in the same predictable pattern.</a:t>
            </a:r>
          </a:p>
          <a:p>
            <a:pPr algn="ctr">
              <a:lnSpc>
                <a:spcPts val="257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54358" y="5525853"/>
            <a:ext cx="7935205" cy="453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4"/>
              </a:lnSpc>
            </a:pPr>
            <a:r>
              <a:rPr lang="en-US" sz="1867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Insight Helps:</a:t>
            </a:r>
          </a:p>
          <a:p>
            <a:pPr algn="l" marL="403201" indent="-201601" lvl="1">
              <a:lnSpc>
                <a:spcPts val="2614"/>
              </a:lnSpc>
              <a:buAutoNum type="arabicPeriod" startAt="1"/>
            </a:pP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Suggests Template-Based or Scripted </a:t>
            </a: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Attacks</a:t>
            </a:r>
          </a:p>
          <a:p>
            <a:pPr algn="l" marL="806403" indent="-268801" lvl="2">
              <a:lnSpc>
                <a:spcPts val="2614"/>
              </a:lnSpc>
              <a:buFont typeface="Arial"/>
              <a:buChar char="⚬"/>
            </a:pP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fact that many users are defrauding in the same amount range hints at repetitive tactics — possibly automated or copycat attacks.</a:t>
            </a:r>
          </a:p>
          <a:p>
            <a:pPr algn="l" marL="403201" indent="-201601" lvl="1">
              <a:lnSpc>
                <a:spcPts val="2614"/>
              </a:lnSpc>
              <a:buAutoNum type="arabicPeriod" startAt="1"/>
            </a:pP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for Behavior Pattern Detection</a:t>
            </a:r>
          </a:p>
          <a:p>
            <a:pPr algn="l" marL="806403" indent="-268801" lvl="2">
              <a:lnSpc>
                <a:spcPts val="2614"/>
              </a:lnSpc>
              <a:buFont typeface="Arial"/>
              <a:buChar char="⚬"/>
            </a:pP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logic should focus not just on identity, but transactional behavior patterns — repeated fraud-like sequences of send → transfer → cash out at certain thresholds.</a:t>
            </a:r>
          </a:p>
          <a:p>
            <a:pPr algn="l" marL="403201" indent="-201601" lvl="1">
              <a:lnSpc>
                <a:spcPts val="2614"/>
              </a:lnSpc>
              <a:buAutoNum type="arabicPeriod" startAt="1"/>
            </a:pP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Emphasizes Urgency for Network-Level Analysis</a:t>
            </a:r>
          </a:p>
          <a:p>
            <a:pPr algn="l" marL="806403" indent="-268801" lvl="2">
              <a:lnSpc>
                <a:spcPts val="2614"/>
              </a:lnSpc>
              <a:buFont typeface="Arial"/>
              <a:buChar char="⚬"/>
            </a:pP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18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demands holistic analysis of movement across accounts, timings, and thresholds.</a:t>
            </a:r>
          </a:p>
          <a:p>
            <a:pPr algn="ctr">
              <a:lnSpc>
                <a:spcPts val="2614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652494" y="435157"/>
            <a:ext cx="8017261" cy="901852"/>
          </a:xfrm>
          <a:custGeom>
            <a:avLst/>
            <a:gdLst/>
            <a:ahLst/>
            <a:cxnLst/>
            <a:rect r="r" b="b" t="t" l="l"/>
            <a:pathLst>
              <a:path h="901852" w="8017261">
                <a:moveTo>
                  <a:pt x="0" y="0"/>
                </a:moveTo>
                <a:lnTo>
                  <a:pt x="8017261" y="0"/>
                </a:lnTo>
                <a:lnTo>
                  <a:pt x="8017261" y="901852"/>
                </a:lnTo>
                <a:lnTo>
                  <a:pt x="0" y="901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617" t="-61912" r="0" b="-16784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52494" y="450374"/>
            <a:ext cx="8017261" cy="83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4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“Temporal</a:t>
            </a:r>
            <a:r>
              <a:rPr lang="en-US" b="true" sz="244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Fraud Clustering: When Transactions Become Traps”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13660" y="1390124"/>
            <a:ext cx="3200101" cy="296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8"/>
              </a:lnSpc>
            </a:pP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 fraud analysts, we usually ask “who” or “how.” But in this case, the real power lies in “when.”</a:t>
            </a:r>
          </a:p>
          <a:p>
            <a:pPr algn="ctr">
              <a:lnSpc>
                <a:spcPts val="1958"/>
              </a:lnSpc>
            </a:pP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Our time-series view of Cash Out frauds revealed steep surges in activity at</a:t>
            </a:r>
            <a:r>
              <a:rPr lang="en-US" b="true" sz="1399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Steps 6, 15, 22, 34, 47, 58, 59, 66, and 74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alongside stable fraud bursts at sequences like</a:t>
            </a:r>
            <a:r>
              <a:rPr lang="en-US" b="true" sz="1399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7–8, 31–32, 58–59, and 77–82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ctr">
              <a:lnSpc>
                <a:spcPts val="1958"/>
              </a:lnSpc>
            </a:pP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rhythmic behavior tells us that fraud isn’t chaotic — it’s strategic.</a:t>
            </a:r>
          </a:p>
          <a:p>
            <a:pPr algn="ctr">
              <a:lnSpc>
                <a:spcPts val="1958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9233394" y="4319645"/>
            <a:ext cx="8937324" cy="5677950"/>
            <a:chOff x="0" y="0"/>
            <a:chExt cx="2353863" cy="14954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53863" cy="1495427"/>
            </a:xfrm>
            <a:custGeom>
              <a:avLst/>
              <a:gdLst/>
              <a:ahLst/>
              <a:cxnLst/>
              <a:rect r="r" b="b" t="t" l="l"/>
              <a:pathLst>
                <a:path h="1495427" w="2353863">
                  <a:moveTo>
                    <a:pt x="13860" y="0"/>
                  </a:moveTo>
                  <a:lnTo>
                    <a:pt x="2340003" y="0"/>
                  </a:lnTo>
                  <a:cubicBezTo>
                    <a:pt x="2343679" y="0"/>
                    <a:pt x="2347204" y="1460"/>
                    <a:pt x="2349804" y="4059"/>
                  </a:cubicBezTo>
                  <a:cubicBezTo>
                    <a:pt x="2352403" y="6659"/>
                    <a:pt x="2353863" y="10184"/>
                    <a:pt x="2353863" y="13860"/>
                  </a:cubicBezTo>
                  <a:lnTo>
                    <a:pt x="2353863" y="1481567"/>
                  </a:lnTo>
                  <a:cubicBezTo>
                    <a:pt x="2353863" y="1485243"/>
                    <a:pt x="2352403" y="1488769"/>
                    <a:pt x="2349804" y="1491368"/>
                  </a:cubicBezTo>
                  <a:cubicBezTo>
                    <a:pt x="2347204" y="1493967"/>
                    <a:pt x="2343679" y="1495427"/>
                    <a:pt x="2340003" y="1495427"/>
                  </a:cubicBezTo>
                  <a:lnTo>
                    <a:pt x="13860" y="1495427"/>
                  </a:lnTo>
                  <a:cubicBezTo>
                    <a:pt x="10184" y="1495427"/>
                    <a:pt x="6659" y="1493967"/>
                    <a:pt x="4059" y="1491368"/>
                  </a:cubicBezTo>
                  <a:cubicBezTo>
                    <a:pt x="1460" y="1488769"/>
                    <a:pt x="0" y="1485243"/>
                    <a:pt x="0" y="1481567"/>
                  </a:cubicBezTo>
                  <a:lnTo>
                    <a:pt x="0" y="13860"/>
                  </a:lnTo>
                  <a:cubicBezTo>
                    <a:pt x="0" y="10184"/>
                    <a:pt x="1460" y="6659"/>
                    <a:pt x="4059" y="4059"/>
                  </a:cubicBezTo>
                  <a:cubicBezTo>
                    <a:pt x="6659" y="1460"/>
                    <a:pt x="10184" y="0"/>
                    <a:pt x="13860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53863" cy="1533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294741" y="4321410"/>
            <a:ext cx="8732767" cy="589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69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Business Implications:</a:t>
            </a:r>
          </a:p>
          <a:p>
            <a:pPr algn="just">
              <a:lnSpc>
                <a:spcPts val="2366"/>
              </a:lnSpc>
            </a:pPr>
            <a:r>
              <a:rPr lang="en-US" sz="16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This Is Patterned Fraud — Not Random Misuse</a:t>
            </a:r>
          </a:p>
          <a:p>
            <a:pPr algn="just">
              <a:lnSpc>
                <a:spcPts val="2366"/>
              </a:lnSpc>
            </a:pPr>
            <a:r>
              <a:rPr lang="en-US" sz="16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aren’t isolated events. They show a clear behavioral cadence — likely driven by scripts, insider timing knowledge, or synchronized fraud rings.</a:t>
            </a:r>
          </a:p>
          <a:p>
            <a:pPr algn="just">
              <a:lnSpc>
                <a:spcPts val="2366"/>
              </a:lnSpc>
            </a:pPr>
            <a:r>
              <a:rPr lang="en-US" sz="16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 suggests fraud-as-a-service models may be at play — timed bot attacks that hit systems at predictable intervals.</a:t>
            </a:r>
          </a:p>
          <a:p>
            <a:pPr algn="just">
              <a:lnSpc>
                <a:spcPts val="2366"/>
              </a:lnSpc>
            </a:pPr>
          </a:p>
          <a:p>
            <a:pPr algn="just">
              <a:lnSpc>
                <a:spcPts val="2366"/>
              </a:lnSpc>
            </a:pPr>
            <a:r>
              <a:rPr lang="en-US" sz="16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Financial Impact Is </a:t>
            </a: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Amplified by Clustering</a:t>
            </a:r>
          </a:p>
          <a:p>
            <a:pPr algn="just">
              <a:lnSpc>
                <a:spcPts val="2366"/>
              </a:lnSpc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fraud occurs in bursts, it’s not just about the number of cases — it’s the concentration of loss in a narrow time window.</a:t>
            </a:r>
          </a:p>
          <a:p>
            <a:pPr algn="just">
              <a:lnSpc>
                <a:spcPts val="2366"/>
              </a:lnSpc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overwhelms response systems, bypasses thresholds, and maximizes damage before detection can occur.</a:t>
            </a:r>
          </a:p>
          <a:p>
            <a:pPr algn="just">
              <a:lnSpc>
                <a:spcPts val="2366"/>
              </a:lnSpc>
            </a:pPr>
          </a:p>
          <a:p>
            <a:pPr algn="just">
              <a:lnSpc>
                <a:spcPts val="2366"/>
              </a:lnSpc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Time Is the Next Axis of Fraud Defense</a:t>
            </a:r>
          </a:p>
          <a:p>
            <a:pPr algn="just">
              <a:lnSpc>
                <a:spcPts val="2366"/>
              </a:lnSpc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 like banks monitor transaction amount or location, they must now factor in timing —</a:t>
            </a:r>
          </a:p>
          <a:p>
            <a:pPr algn="just" marL="364887" indent="-182443" lvl="1">
              <a:lnSpc>
                <a:spcPts val="2366"/>
              </a:lnSpc>
              <a:buFont typeface="Arial"/>
              <a:buChar char="•"/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rules triggered at Steps 22 or 66</a:t>
            </a:r>
          </a:p>
          <a:p>
            <a:pPr algn="just" marL="364887" indent="-182443" lvl="1">
              <a:lnSpc>
                <a:spcPts val="2366"/>
              </a:lnSpc>
              <a:buFont typeface="Arial"/>
              <a:buChar char="•"/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Anomaly thresholds adjusted for fraud-heavy hours</a:t>
            </a:r>
          </a:p>
          <a:p>
            <a:pPr algn="just" marL="364887" indent="-182443" lvl="1">
              <a:lnSpc>
                <a:spcPts val="2366"/>
              </a:lnSpc>
              <a:buFont typeface="Arial"/>
              <a:buChar char="•"/>
            </a:pPr>
            <a:r>
              <a:rPr lang="en-US" b="true" sz="16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 scaling aligned with fraud peaks</a:t>
            </a:r>
          </a:p>
          <a:p>
            <a:pPr algn="just">
              <a:lnSpc>
                <a:spcPts val="236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6125" y="1750852"/>
            <a:ext cx="3970744" cy="2460259"/>
          </a:xfrm>
          <a:custGeom>
            <a:avLst/>
            <a:gdLst/>
            <a:ahLst/>
            <a:cxnLst/>
            <a:rect r="r" b="b" t="t" l="l"/>
            <a:pathLst>
              <a:path h="2460259" w="3970744">
                <a:moveTo>
                  <a:pt x="0" y="0"/>
                </a:moveTo>
                <a:lnTo>
                  <a:pt x="3970745" y="0"/>
                </a:lnTo>
                <a:lnTo>
                  <a:pt x="3970745" y="2460260"/>
                </a:lnTo>
                <a:lnTo>
                  <a:pt x="0" y="2460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341" y="396382"/>
            <a:ext cx="7439161" cy="929576"/>
          </a:xfrm>
          <a:custGeom>
            <a:avLst/>
            <a:gdLst/>
            <a:ahLst/>
            <a:cxnLst/>
            <a:rect r="r" b="b" t="t" l="l"/>
            <a:pathLst>
              <a:path h="929576" w="7439161">
                <a:moveTo>
                  <a:pt x="0" y="0"/>
                </a:moveTo>
                <a:lnTo>
                  <a:pt x="7439161" y="0"/>
                </a:lnTo>
                <a:lnTo>
                  <a:pt x="7439161" y="929576"/>
                </a:lnTo>
                <a:lnTo>
                  <a:pt x="0" y="929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517" t="-63004" r="-2808" b="-14533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6494" y="4601637"/>
            <a:ext cx="7180854" cy="294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4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🤖</a:t>
            </a:r>
            <a:r>
              <a:rPr lang="en-US" sz="24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Why This Happened:</a:t>
            </a:r>
          </a:p>
          <a:p>
            <a:pPr algn="l" marL="443483" indent="-221742" lvl="1">
              <a:lnSpc>
                <a:spcPts val="2875"/>
              </a:lnSpc>
              <a:buFont typeface="Arial"/>
              <a:buChar char="•"/>
            </a:pPr>
            <a:r>
              <a:rPr lang="en-US" b="true" sz="20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detection logic is based on Z-score of fraud count (not amount).</a:t>
            </a:r>
          </a:p>
          <a:p>
            <a:pPr algn="l" marL="443483" indent="-221742" lvl="1">
              <a:lnSpc>
                <a:spcPts val="2875"/>
              </a:lnSpc>
              <a:buFont typeface="Arial"/>
              <a:buChar char="•"/>
            </a:pPr>
            <a:r>
              <a:rPr lang="en-US" b="true" sz="20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Since the number of fraud cases at Steps 22 and 66 was within statistical norms, the model didn’t flag it.</a:t>
            </a:r>
          </a:p>
          <a:p>
            <a:pPr algn="l" marL="443483" indent="-221742" lvl="1">
              <a:lnSpc>
                <a:spcPts val="2875"/>
              </a:lnSpc>
              <a:buFont typeface="Arial"/>
              <a:buChar char="•"/>
            </a:pPr>
            <a:r>
              <a:rPr lang="en-US" b="true" sz="20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Loss ≠ Rarity — the system was blind to concentrated high-value attacks.</a:t>
            </a:r>
          </a:p>
          <a:p>
            <a:pPr algn="l">
              <a:lnSpc>
                <a:spcPts val="287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828030" y="1450811"/>
            <a:ext cx="3453897" cy="3536709"/>
            <a:chOff x="0" y="0"/>
            <a:chExt cx="909668" cy="931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9668" cy="931479"/>
            </a:xfrm>
            <a:custGeom>
              <a:avLst/>
              <a:gdLst/>
              <a:ahLst/>
              <a:cxnLst/>
              <a:rect r="r" b="b" t="t" l="l"/>
              <a:pathLst>
                <a:path h="931479" w="909668">
                  <a:moveTo>
                    <a:pt x="80694" y="0"/>
                  </a:moveTo>
                  <a:lnTo>
                    <a:pt x="828974" y="0"/>
                  </a:lnTo>
                  <a:cubicBezTo>
                    <a:pt x="873540" y="0"/>
                    <a:pt x="909668" y="36128"/>
                    <a:pt x="909668" y="80694"/>
                  </a:cubicBezTo>
                  <a:lnTo>
                    <a:pt x="909668" y="850785"/>
                  </a:lnTo>
                  <a:cubicBezTo>
                    <a:pt x="909668" y="895351"/>
                    <a:pt x="873540" y="931479"/>
                    <a:pt x="828974" y="931479"/>
                  </a:cubicBezTo>
                  <a:lnTo>
                    <a:pt x="80694" y="931479"/>
                  </a:lnTo>
                  <a:cubicBezTo>
                    <a:pt x="36128" y="931479"/>
                    <a:pt x="0" y="895351"/>
                    <a:pt x="0" y="850785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09668" cy="969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81953" y="479237"/>
            <a:ext cx="9314314" cy="3671339"/>
            <a:chOff x="0" y="0"/>
            <a:chExt cx="2453153" cy="9669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53153" cy="966937"/>
            </a:xfrm>
            <a:custGeom>
              <a:avLst/>
              <a:gdLst/>
              <a:ahLst/>
              <a:cxnLst/>
              <a:rect r="r" b="b" t="t" l="l"/>
              <a:pathLst>
                <a:path h="966937" w="2453153">
                  <a:moveTo>
                    <a:pt x="29923" y="0"/>
                  </a:moveTo>
                  <a:lnTo>
                    <a:pt x="2423230" y="0"/>
                  </a:lnTo>
                  <a:cubicBezTo>
                    <a:pt x="2439756" y="0"/>
                    <a:pt x="2453153" y="13397"/>
                    <a:pt x="2453153" y="29923"/>
                  </a:cubicBezTo>
                  <a:lnTo>
                    <a:pt x="2453153" y="937014"/>
                  </a:lnTo>
                  <a:cubicBezTo>
                    <a:pt x="2453153" y="944950"/>
                    <a:pt x="2450000" y="952561"/>
                    <a:pt x="2444388" y="958173"/>
                  </a:cubicBezTo>
                  <a:cubicBezTo>
                    <a:pt x="2438777" y="963785"/>
                    <a:pt x="2431166" y="966937"/>
                    <a:pt x="2423230" y="966937"/>
                  </a:cubicBezTo>
                  <a:lnTo>
                    <a:pt x="29923" y="966937"/>
                  </a:lnTo>
                  <a:cubicBezTo>
                    <a:pt x="13397" y="966937"/>
                    <a:pt x="0" y="953540"/>
                    <a:pt x="0" y="937014"/>
                  </a:cubicBezTo>
                  <a:lnTo>
                    <a:pt x="0" y="29923"/>
                  </a:lnTo>
                  <a:cubicBezTo>
                    <a:pt x="0" y="13397"/>
                    <a:pt x="13397" y="0"/>
                    <a:pt x="29923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53153" cy="1005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81953" y="4431320"/>
            <a:ext cx="9314314" cy="5502891"/>
            <a:chOff x="0" y="0"/>
            <a:chExt cx="2453153" cy="1449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53153" cy="1449321"/>
            </a:xfrm>
            <a:custGeom>
              <a:avLst/>
              <a:gdLst/>
              <a:ahLst/>
              <a:cxnLst/>
              <a:rect r="r" b="b" t="t" l="l"/>
              <a:pathLst>
                <a:path h="1449321" w="2453153">
                  <a:moveTo>
                    <a:pt x="29923" y="0"/>
                  </a:moveTo>
                  <a:lnTo>
                    <a:pt x="2423230" y="0"/>
                  </a:lnTo>
                  <a:cubicBezTo>
                    <a:pt x="2439756" y="0"/>
                    <a:pt x="2453153" y="13397"/>
                    <a:pt x="2453153" y="29923"/>
                  </a:cubicBezTo>
                  <a:lnTo>
                    <a:pt x="2453153" y="1419398"/>
                  </a:lnTo>
                  <a:cubicBezTo>
                    <a:pt x="2453153" y="1435924"/>
                    <a:pt x="2439756" y="1449321"/>
                    <a:pt x="2423230" y="1449321"/>
                  </a:cubicBezTo>
                  <a:lnTo>
                    <a:pt x="29923" y="1449321"/>
                  </a:lnTo>
                  <a:cubicBezTo>
                    <a:pt x="13397" y="1449321"/>
                    <a:pt x="0" y="1435924"/>
                    <a:pt x="0" y="1419398"/>
                  </a:cubicBezTo>
                  <a:lnTo>
                    <a:pt x="0" y="29923"/>
                  </a:lnTo>
                  <a:cubicBezTo>
                    <a:pt x="0" y="13397"/>
                    <a:pt x="13397" y="0"/>
                    <a:pt x="29923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53153" cy="1487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96863" y="431612"/>
            <a:ext cx="7340116" cy="81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1"/>
              </a:lnSpc>
            </a:pPr>
            <a:r>
              <a:rPr lang="en-US" sz="231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Spike Detecte</a:t>
            </a:r>
            <a:r>
              <a:rPr lang="en-US" b="true" sz="23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d, But Flagged as “Normal” — Here’s Why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8030" y="1722277"/>
            <a:ext cx="3058471" cy="326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3976" indent="-181988" lvl="1">
              <a:lnSpc>
                <a:spcPts val="2360"/>
              </a:lnSpc>
              <a:buFont typeface="Arial"/>
              <a:buChar char="•"/>
            </a:pPr>
            <a:r>
              <a:rPr lang="en-US" b="true" sz="16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anomaly </a:t>
            </a:r>
            <a:r>
              <a:rPr lang="en-US" b="true" sz="16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model is based on Z-score of fraud count per step — not just high-value transactions.</a:t>
            </a:r>
          </a:p>
          <a:p>
            <a:pPr algn="ctr" marL="363976" indent="-181988" lvl="1">
              <a:lnSpc>
                <a:spcPts val="2360"/>
              </a:lnSpc>
              <a:buFont typeface="Arial"/>
              <a:buChar char="•"/>
            </a:pPr>
            <a:r>
              <a:rPr lang="en-US" b="true" sz="16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Since the number of fraud cases at steps 22 &amp; 66 is within statistical limits, the system classifies it as “normal”.</a:t>
            </a:r>
          </a:p>
          <a:p>
            <a:pPr algn="ctr">
              <a:lnSpc>
                <a:spcPts val="236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810157" y="823070"/>
            <a:ext cx="7435486" cy="332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“This is the moment we realize</a:t>
            </a:r>
            <a:r>
              <a:rPr lang="en-US" sz="212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— statistical intelligence isn’t enough.”</a:t>
            </a:r>
          </a:p>
          <a:p>
            <a:pPr algn="l" marL="457885" indent="-228943" lvl="1">
              <a:lnSpc>
                <a:spcPts val="2969"/>
              </a:lnSpc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 with advanced logic, ₹27.52M slipped through undetected.</a:t>
            </a:r>
          </a:p>
          <a:p>
            <a:pPr algn="l" marL="457885" indent="-228943" lvl="1">
              <a:lnSpc>
                <a:spcPts val="2969"/>
              </a:lnSpc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wasn’t a failure of data — it was a gap in behavioral intelligence.</a:t>
            </a:r>
          </a:p>
          <a:p>
            <a:pPr algn="l" marL="457885" indent="-228943" lvl="1">
              <a:lnSpc>
                <a:spcPts val="2969"/>
              </a:lnSpc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Fraudsters bypass thresholds, but leave behind timing, value, and pattern clues.</a:t>
            </a:r>
          </a:p>
          <a:p>
            <a:pPr algn="l">
              <a:lnSpc>
                <a:spcPts val="296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86712" y="7288424"/>
            <a:ext cx="7160419" cy="4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7"/>
              </a:lnSpc>
            </a:pPr>
            <a:r>
              <a:rPr lang="en-US" b="true" sz="274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Beh</a:t>
            </a:r>
            <a:r>
              <a:rPr lang="en-US" b="true" sz="274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avioral Intelligence in Fraud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6863" y="7828398"/>
            <a:ext cx="7577632" cy="193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2"/>
              </a:lnSpc>
            </a:pPr>
            <a:r>
              <a:rPr lang="en-US" sz="27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looks</a:t>
            </a:r>
            <a:r>
              <a:rPr lang="en-US" sz="27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at the patterns, timing, user actions, transaction types, and sequences — asking:</a:t>
            </a:r>
          </a:p>
          <a:p>
            <a:pPr algn="ctr">
              <a:lnSpc>
                <a:spcPts val="3872"/>
              </a:lnSpc>
            </a:pPr>
            <a:r>
              <a:rPr lang="en-US" sz="27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“Does this behavior make sense for this type of user, at this time, in this context?”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40654" y="4739785"/>
            <a:ext cx="8796911" cy="483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196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of Behavioral Intelligence:</a:t>
            </a:r>
          </a:p>
          <a:p>
            <a:pPr algn="l" marL="423450" indent="-211725" lvl="1">
              <a:lnSpc>
                <a:spcPts val="2745"/>
              </a:lnSpc>
              <a:buAutoNum type="arabicPeriod" startAt="1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Unusual Timing Patterns</a:t>
            </a:r>
          </a:p>
          <a:p>
            <a:pPr algn="l" marL="846901" indent="-282300" lvl="2">
              <a:lnSpc>
                <a:spcPts val="2745"/>
              </a:lnSpc>
              <a:buFont typeface="Arial"/>
              <a:buChar char="⚬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user who only transacts at 3 a.m. or exactly at Step 22 repeatedly.</a:t>
            </a:r>
          </a:p>
          <a:p>
            <a:pPr algn="l" marL="423450" indent="-211725" lvl="1">
              <a:lnSpc>
                <a:spcPts val="2745"/>
              </a:lnSpc>
              <a:buAutoNum type="arabicPeriod" startAt="1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Transaction Chains</a:t>
            </a:r>
          </a:p>
          <a:p>
            <a:pPr algn="l" marL="846901" indent="-282300" lvl="2">
              <a:lnSpc>
                <a:spcPts val="2745"/>
              </a:lnSpc>
              <a:buFont typeface="Arial"/>
              <a:buChar char="⚬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transfer followed instantly by a cash-out — classic mule behavior.</a:t>
            </a:r>
          </a:p>
          <a:p>
            <a:pPr algn="l" marL="423450" indent="-211725" lvl="1">
              <a:lnSpc>
                <a:spcPts val="2745"/>
              </a:lnSpc>
              <a:buAutoNum type="arabicPeriod" startAt="1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Anomalous User Journeys</a:t>
            </a:r>
          </a:p>
          <a:p>
            <a:pPr algn="l" marL="846901" indent="-282300" lvl="2">
              <a:lnSpc>
                <a:spcPts val="2745"/>
              </a:lnSpc>
              <a:buFont typeface="Arial"/>
              <a:buChar char="⚬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user who never transacted before suddenly initiates 5 large transactions.</a:t>
            </a:r>
          </a:p>
          <a:p>
            <a:pPr algn="l" marL="423450" indent="-211725" lvl="1">
              <a:lnSpc>
                <a:spcPts val="2745"/>
              </a:lnSpc>
              <a:buAutoNum type="arabicPeriod" startAt="1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Scripted Behavior</a:t>
            </a:r>
          </a:p>
          <a:p>
            <a:pPr algn="l" marL="846901" indent="-282300" lvl="2">
              <a:lnSpc>
                <a:spcPts val="2745"/>
              </a:lnSpc>
              <a:buFont typeface="Arial"/>
              <a:buChar char="⚬"/>
            </a:pPr>
            <a:r>
              <a:rPr lang="en-US" b="true" sz="19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 users hitting the system at the same step or minute — likely a botnet.</a:t>
            </a:r>
          </a:p>
          <a:p>
            <a:pPr algn="l">
              <a:lnSpc>
                <a:spcPts val="274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0997">
            <a:off x="12821481" y="3645803"/>
            <a:ext cx="478292" cy="502984"/>
          </a:xfrm>
          <a:custGeom>
            <a:avLst/>
            <a:gdLst/>
            <a:ahLst/>
            <a:cxnLst/>
            <a:rect r="r" b="b" t="t" l="l"/>
            <a:pathLst>
              <a:path h="502984" w="478292">
                <a:moveTo>
                  <a:pt x="0" y="0"/>
                </a:moveTo>
                <a:lnTo>
                  <a:pt x="478292" y="0"/>
                </a:lnTo>
                <a:lnTo>
                  <a:pt x="478292" y="502983"/>
                </a:lnTo>
                <a:lnTo>
                  <a:pt x="0" y="502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64240" y="492681"/>
            <a:ext cx="10959521" cy="77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208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let’s dive into TRANSFER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80997">
            <a:off x="5631297" y="1818984"/>
            <a:ext cx="478292" cy="502984"/>
          </a:xfrm>
          <a:custGeom>
            <a:avLst/>
            <a:gdLst/>
            <a:ahLst/>
            <a:cxnLst/>
            <a:rect r="r" b="b" t="t" l="l"/>
            <a:pathLst>
              <a:path h="502984" w="478292">
                <a:moveTo>
                  <a:pt x="0" y="0"/>
                </a:moveTo>
                <a:lnTo>
                  <a:pt x="478292" y="0"/>
                </a:lnTo>
                <a:lnTo>
                  <a:pt x="478292" y="502983"/>
                </a:lnTo>
                <a:lnTo>
                  <a:pt x="0" y="502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22755" y="5985027"/>
            <a:ext cx="10190830" cy="2043439"/>
            <a:chOff x="0" y="0"/>
            <a:chExt cx="2684005" cy="538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84005" cy="538190"/>
            </a:xfrm>
            <a:custGeom>
              <a:avLst/>
              <a:gdLst/>
              <a:ahLst/>
              <a:cxnLst/>
              <a:rect r="r" b="b" t="t" l="l"/>
              <a:pathLst>
                <a:path h="538190" w="2684005">
                  <a:moveTo>
                    <a:pt x="0" y="0"/>
                  </a:moveTo>
                  <a:lnTo>
                    <a:pt x="2684005" y="0"/>
                  </a:lnTo>
                  <a:lnTo>
                    <a:pt x="2684005" y="538190"/>
                  </a:lnTo>
                  <a:lnTo>
                    <a:pt x="0" y="538190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84005" cy="576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819614" y="6173996"/>
            <a:ext cx="5397111" cy="160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🚨 “Zero flagge</a:t>
            </a:r>
            <a:r>
              <a:rPr lang="en-US" b="true" sz="30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, yet ₹681.60 M vanished through TRANSFER”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22755" y="1652808"/>
            <a:ext cx="10190830" cy="3941694"/>
            <a:chOff x="0" y="0"/>
            <a:chExt cx="2684005" cy="10381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84005" cy="1038142"/>
            </a:xfrm>
            <a:custGeom>
              <a:avLst/>
              <a:gdLst/>
              <a:ahLst/>
              <a:cxnLst/>
              <a:rect r="r" b="b" t="t" l="l"/>
              <a:pathLst>
                <a:path h="1038142" w="2684005">
                  <a:moveTo>
                    <a:pt x="0" y="0"/>
                  </a:moveTo>
                  <a:lnTo>
                    <a:pt x="2684005" y="0"/>
                  </a:lnTo>
                  <a:lnTo>
                    <a:pt x="2684005" y="1038142"/>
                  </a:lnTo>
                  <a:lnTo>
                    <a:pt x="0" y="1038142"/>
                  </a:ln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84005" cy="1076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63516" y="1926432"/>
            <a:ext cx="9595784" cy="358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29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“Transfer” is the launchpad for most fraudulent flows — the first move in laundering or rerouting money.</a:t>
            </a:r>
          </a:p>
          <a:p>
            <a:pPr algn="ctr">
              <a:lnSpc>
                <a:spcPts val="4118"/>
              </a:lnSpc>
            </a:pPr>
            <a:r>
              <a:rPr lang="en-US" sz="29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yet, not a single one of these transactions was flagged.</a:t>
            </a:r>
          </a:p>
          <a:p>
            <a:pPr algn="ctr">
              <a:lnSpc>
                <a:spcPts val="4118"/>
              </a:lnSpc>
            </a:pPr>
            <a:r>
              <a:rPr lang="en-US" sz="29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This isn’t just oversight — it’s a foundational weakness in the fraud detection pipeline where the attack begins.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46761" y="2070476"/>
            <a:ext cx="3923682" cy="2268341"/>
          </a:xfrm>
          <a:custGeom>
            <a:avLst/>
            <a:gdLst/>
            <a:ahLst/>
            <a:cxnLst/>
            <a:rect r="r" b="b" t="t" l="l"/>
            <a:pathLst>
              <a:path h="2268341" w="3923682">
                <a:moveTo>
                  <a:pt x="0" y="0"/>
                </a:moveTo>
                <a:lnTo>
                  <a:pt x="3923682" y="0"/>
                </a:lnTo>
                <a:lnTo>
                  <a:pt x="3923682" y="2268340"/>
                </a:lnTo>
                <a:lnTo>
                  <a:pt x="0" y="226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798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10390" y="4946607"/>
            <a:ext cx="3353996" cy="2268341"/>
          </a:xfrm>
          <a:custGeom>
            <a:avLst/>
            <a:gdLst/>
            <a:ahLst/>
            <a:cxnLst/>
            <a:rect r="r" b="b" t="t" l="l"/>
            <a:pathLst>
              <a:path h="2268341" w="3353996">
                <a:moveTo>
                  <a:pt x="0" y="0"/>
                </a:moveTo>
                <a:lnTo>
                  <a:pt x="3353995" y="0"/>
                </a:lnTo>
                <a:lnTo>
                  <a:pt x="3353995" y="2268340"/>
                </a:lnTo>
                <a:lnTo>
                  <a:pt x="0" y="226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683" t="-401" r="0" b="-40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80997">
            <a:off x="2071244" y="4695115"/>
            <a:ext cx="478292" cy="502984"/>
          </a:xfrm>
          <a:custGeom>
            <a:avLst/>
            <a:gdLst/>
            <a:ahLst/>
            <a:cxnLst/>
            <a:rect r="r" b="b" t="t" l="l"/>
            <a:pathLst>
              <a:path h="502984" w="478292">
                <a:moveTo>
                  <a:pt x="0" y="0"/>
                </a:moveTo>
                <a:lnTo>
                  <a:pt x="478291" y="0"/>
                </a:lnTo>
                <a:lnTo>
                  <a:pt x="478291" y="502983"/>
                </a:lnTo>
                <a:lnTo>
                  <a:pt x="0" y="502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6470" y="1321001"/>
            <a:ext cx="6643861" cy="2921071"/>
          </a:xfrm>
          <a:custGeom>
            <a:avLst/>
            <a:gdLst/>
            <a:ahLst/>
            <a:cxnLst/>
            <a:rect r="r" b="b" t="t" l="l"/>
            <a:pathLst>
              <a:path h="2921071" w="6643861">
                <a:moveTo>
                  <a:pt x="0" y="0"/>
                </a:moveTo>
                <a:lnTo>
                  <a:pt x="6643861" y="0"/>
                </a:lnTo>
                <a:lnTo>
                  <a:pt x="6643861" y="2921072"/>
                </a:lnTo>
                <a:lnTo>
                  <a:pt x="0" y="2921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51" r="0" b="-115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36470" y="320599"/>
            <a:ext cx="8133167" cy="901852"/>
          </a:xfrm>
          <a:custGeom>
            <a:avLst/>
            <a:gdLst/>
            <a:ahLst/>
            <a:cxnLst/>
            <a:rect r="r" b="b" t="t" l="l"/>
            <a:pathLst>
              <a:path h="901852" w="8133167">
                <a:moveTo>
                  <a:pt x="0" y="0"/>
                </a:moveTo>
                <a:lnTo>
                  <a:pt x="8133167" y="0"/>
                </a:lnTo>
                <a:lnTo>
                  <a:pt x="8133167" y="901852"/>
                </a:lnTo>
                <a:lnTo>
                  <a:pt x="0" y="9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9" t="-64819" r="0" b="-1734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85127" y="282499"/>
            <a:ext cx="7035852" cy="124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4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“Pattern Persists: Transfer Frauds Follow the Same Rhythmic Cadence”</a:t>
            </a:r>
          </a:p>
          <a:p>
            <a:pPr algn="ctr">
              <a:lnSpc>
                <a:spcPts val="338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336470" y="7405288"/>
            <a:ext cx="8510076" cy="2672762"/>
            <a:chOff x="0" y="0"/>
            <a:chExt cx="2241337" cy="7039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1337" cy="703937"/>
            </a:xfrm>
            <a:custGeom>
              <a:avLst/>
              <a:gdLst/>
              <a:ahLst/>
              <a:cxnLst/>
              <a:rect r="r" b="b" t="t" l="l"/>
              <a:pathLst>
                <a:path h="703937" w="2241337">
                  <a:moveTo>
                    <a:pt x="42758" y="0"/>
                  </a:moveTo>
                  <a:lnTo>
                    <a:pt x="2198579" y="0"/>
                  </a:lnTo>
                  <a:cubicBezTo>
                    <a:pt x="2222194" y="0"/>
                    <a:pt x="2241337" y="19143"/>
                    <a:pt x="2241337" y="42758"/>
                  </a:cubicBezTo>
                  <a:lnTo>
                    <a:pt x="2241337" y="661180"/>
                  </a:lnTo>
                  <a:cubicBezTo>
                    <a:pt x="2241337" y="684794"/>
                    <a:pt x="2222194" y="703937"/>
                    <a:pt x="2198579" y="703937"/>
                  </a:cubicBezTo>
                  <a:lnTo>
                    <a:pt x="42758" y="703937"/>
                  </a:lnTo>
                  <a:cubicBezTo>
                    <a:pt x="19143" y="703937"/>
                    <a:pt x="0" y="684794"/>
                    <a:pt x="0" y="661180"/>
                  </a:cubicBezTo>
                  <a:lnTo>
                    <a:pt x="0" y="42758"/>
                  </a:lnTo>
                  <a:cubicBezTo>
                    <a:pt x="0" y="19143"/>
                    <a:pt x="19143" y="0"/>
                    <a:pt x="42758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1337" cy="74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105900" y="486684"/>
            <a:ext cx="19050" cy="93136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6113681" y="1530551"/>
            <a:ext cx="1829186" cy="2322783"/>
            <a:chOff x="0" y="0"/>
            <a:chExt cx="481761" cy="6117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761" cy="611762"/>
            </a:xfrm>
            <a:custGeom>
              <a:avLst/>
              <a:gdLst/>
              <a:ahLst/>
              <a:cxnLst/>
              <a:rect r="r" b="b" t="t" l="l"/>
              <a:pathLst>
                <a:path h="611762" w="481761">
                  <a:moveTo>
                    <a:pt x="198925" y="0"/>
                  </a:moveTo>
                  <a:lnTo>
                    <a:pt x="282836" y="0"/>
                  </a:lnTo>
                  <a:cubicBezTo>
                    <a:pt x="335594" y="0"/>
                    <a:pt x="386192" y="20958"/>
                    <a:pt x="423497" y="58264"/>
                  </a:cubicBezTo>
                  <a:cubicBezTo>
                    <a:pt x="460803" y="95569"/>
                    <a:pt x="481761" y="146167"/>
                    <a:pt x="481761" y="198925"/>
                  </a:cubicBezTo>
                  <a:lnTo>
                    <a:pt x="481761" y="412837"/>
                  </a:lnTo>
                  <a:cubicBezTo>
                    <a:pt x="481761" y="465595"/>
                    <a:pt x="460803" y="516192"/>
                    <a:pt x="423497" y="553498"/>
                  </a:cubicBezTo>
                  <a:cubicBezTo>
                    <a:pt x="386192" y="590804"/>
                    <a:pt x="335594" y="611762"/>
                    <a:pt x="282836" y="611762"/>
                  </a:cubicBezTo>
                  <a:lnTo>
                    <a:pt x="198925" y="611762"/>
                  </a:lnTo>
                  <a:cubicBezTo>
                    <a:pt x="146167" y="611762"/>
                    <a:pt x="95569" y="590804"/>
                    <a:pt x="58264" y="553498"/>
                  </a:cubicBezTo>
                  <a:cubicBezTo>
                    <a:pt x="20958" y="516192"/>
                    <a:pt x="0" y="465595"/>
                    <a:pt x="0" y="412837"/>
                  </a:cubicBezTo>
                  <a:lnTo>
                    <a:pt x="0" y="198925"/>
                  </a:lnTo>
                  <a:cubicBezTo>
                    <a:pt x="0" y="146167"/>
                    <a:pt x="20958" y="95569"/>
                    <a:pt x="58264" y="58264"/>
                  </a:cubicBezTo>
                  <a:cubicBezTo>
                    <a:pt x="95569" y="20958"/>
                    <a:pt x="146167" y="0"/>
                    <a:pt x="198925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1761" cy="649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87688" y="587557"/>
            <a:ext cx="8254274" cy="593543"/>
          </a:xfrm>
          <a:custGeom>
            <a:avLst/>
            <a:gdLst/>
            <a:ahLst/>
            <a:cxnLst/>
            <a:rect r="r" b="b" t="t" l="l"/>
            <a:pathLst>
              <a:path h="593543" w="8254274">
                <a:moveTo>
                  <a:pt x="0" y="0"/>
                </a:moveTo>
                <a:lnTo>
                  <a:pt x="8254274" y="0"/>
                </a:lnTo>
                <a:lnTo>
                  <a:pt x="8254274" y="593543"/>
                </a:lnTo>
                <a:lnTo>
                  <a:pt x="0" y="593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25" t="-94071" r="0" b="-30696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7688" y="1321001"/>
            <a:ext cx="8254274" cy="2012807"/>
          </a:xfrm>
          <a:custGeom>
            <a:avLst/>
            <a:gdLst/>
            <a:ahLst/>
            <a:cxnLst/>
            <a:rect r="r" b="b" t="t" l="l"/>
            <a:pathLst>
              <a:path h="2012807" w="8254274">
                <a:moveTo>
                  <a:pt x="0" y="0"/>
                </a:moveTo>
                <a:lnTo>
                  <a:pt x="8254274" y="0"/>
                </a:lnTo>
                <a:lnTo>
                  <a:pt x="8254274" y="2012807"/>
                </a:lnTo>
                <a:lnTo>
                  <a:pt x="0" y="2012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36470" y="4550802"/>
            <a:ext cx="8510076" cy="251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2"/>
              </a:lnSpc>
            </a:pPr>
            <a:r>
              <a:rPr lang="en-US" sz="17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 when we isolate TR</a:t>
            </a:r>
            <a:r>
              <a:rPr lang="en-US" sz="17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ANSFER transactions, we see a familiar pattern — fraud doesn't scatter randomly across time.</a:t>
            </a:r>
          </a:p>
          <a:p>
            <a:pPr algn="l">
              <a:lnSpc>
                <a:spcPts val="2482"/>
              </a:lnSpc>
            </a:pPr>
            <a:r>
              <a:rPr lang="en-US" sz="17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Instead, it clusters again at </a:t>
            </a:r>
            <a:r>
              <a:rPr lang="en-US" sz="1773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 6, 15, 22, 34, 47, 58–59, and 66</a:t>
            </a:r>
            <a:r>
              <a:rPr lang="en-US" sz="17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— just like in CashOut.</a:t>
            </a:r>
          </a:p>
          <a:p>
            <a:pPr algn="l">
              <a:lnSpc>
                <a:spcPts val="2598"/>
              </a:lnSpc>
            </a:pPr>
            <a:r>
              <a:rPr lang="en-US" sz="1856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isn’t coincidental</a:t>
            </a:r>
            <a:r>
              <a:rPr lang="en-US" sz="185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It’s a replication of behavior across transaction types — and likely suggests either:</a:t>
            </a:r>
          </a:p>
          <a:p>
            <a:pPr algn="l">
              <a:lnSpc>
                <a:spcPts val="2482"/>
              </a:lnSpc>
            </a:pPr>
            <a:r>
              <a:rPr lang="en-US" sz="17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Reuse of the same bot scripts</a:t>
            </a:r>
          </a:p>
          <a:p>
            <a:pPr algn="l">
              <a:lnSpc>
                <a:spcPts val="2482"/>
              </a:lnSpc>
            </a:pPr>
            <a:r>
              <a:rPr lang="en-US" sz="17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 a single fraud model operating across multiple channels.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41165" y="7589803"/>
            <a:ext cx="7828472" cy="248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030" indent="-193015" lvl="1">
              <a:lnSpc>
                <a:spcPts val="2503"/>
              </a:lnSpc>
              <a:buFont typeface="Arial"/>
              <a:buChar char="•"/>
            </a:pPr>
            <a:r>
              <a:rPr lang="en-US" b="true" sz="178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Shows the frau</a:t>
            </a:r>
            <a:r>
              <a:rPr lang="en-US" b="true" sz="178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ring is channel-agnostic — they're exploiting both Transfer and CashOut pipelines with the same timing logic.</a:t>
            </a:r>
          </a:p>
          <a:p>
            <a:pPr algn="l">
              <a:lnSpc>
                <a:spcPts val="2503"/>
              </a:lnSpc>
            </a:pPr>
          </a:p>
          <a:p>
            <a:pPr algn="l" marL="386030" indent="-193015" lvl="1">
              <a:lnSpc>
                <a:spcPts val="2503"/>
              </a:lnSpc>
              <a:buFont typeface="Arial"/>
              <a:buChar char="•"/>
            </a:pPr>
            <a:r>
              <a:rPr lang="en-US" b="true" sz="178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need a cross-transaction-type anomaly detection strategy — not one model per transaction type.</a:t>
            </a:r>
          </a:p>
          <a:p>
            <a:pPr algn="l">
              <a:lnSpc>
                <a:spcPts val="2503"/>
              </a:lnSpc>
            </a:pPr>
          </a:p>
          <a:p>
            <a:pPr algn="l" marL="386030" indent="-193015" lvl="1">
              <a:lnSpc>
                <a:spcPts val="2503"/>
              </a:lnSpc>
              <a:buFont typeface="Arial"/>
              <a:buChar char="•"/>
            </a:pPr>
            <a:r>
              <a:rPr lang="en-US" b="true" sz="178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Emphasizes behavioral signatures over transaction names.</a:t>
            </a:r>
          </a:p>
          <a:p>
            <a:pPr algn="l">
              <a:lnSpc>
                <a:spcPts val="250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6305718" y="1673403"/>
            <a:ext cx="1445112" cy="198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“T</a:t>
            </a:r>
            <a:r>
              <a:rPr lang="en-US" b="true" sz="230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ime isn’t just metadata. It’s a weapon.”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3602" y="645388"/>
            <a:ext cx="9022868" cy="43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“Who’s Behin</a:t>
            </a:r>
            <a:r>
              <a:rPr lang="en-US" b="true" sz="25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the Transfer frauds?”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7169" y="3400483"/>
            <a:ext cx="6469102" cy="333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7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we analyze the top 10 sen</a:t>
            </a:r>
            <a:r>
              <a:rPr lang="en-US" sz="17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ders (nameOrig) and top 10 receivers (nameDest) in fraudulent Transfer transactions, we see a striking </a:t>
            </a:r>
            <a:r>
              <a:rPr lang="en-US" sz="1759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resemblance in fraud behavior to CashOut</a:t>
            </a:r>
            <a:r>
              <a:rPr lang="en-US" sz="17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 marL="379874" indent="-189937" lvl="1">
              <a:lnSpc>
                <a:spcPts val="2463"/>
              </a:lnSpc>
              <a:buFont typeface="Arial"/>
              <a:buChar char="•"/>
            </a:pPr>
            <a:r>
              <a:rPr lang="en-US" b="true" sz="17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sender and receiver transacts exactly 10M or near-identical values.</a:t>
            </a:r>
          </a:p>
          <a:p>
            <a:pPr algn="l" marL="379874" indent="-189937" lvl="1">
              <a:lnSpc>
                <a:spcPts val="2463"/>
              </a:lnSpc>
              <a:buFont typeface="Arial"/>
              <a:buChar char="•"/>
            </a:pPr>
            <a:r>
              <a:rPr lang="en-US" b="true" sz="17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fraud amount per user is nearly equal — indicating a structured, split-distribution strategy.</a:t>
            </a:r>
          </a:p>
          <a:p>
            <a:pPr algn="l">
              <a:lnSpc>
                <a:spcPts val="2463"/>
              </a:lnSpc>
            </a:pPr>
            <a:r>
              <a:rPr lang="en-US" sz="17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It’s unlikely for so many different users to coincidentally cause identical losses. This suggests a</a:t>
            </a:r>
            <a:r>
              <a:rPr lang="en-US" sz="1759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coordinated fraud ring, possibly using scripted automation or mule accounts.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7169" y="6832417"/>
            <a:ext cx="8175312" cy="3245633"/>
            <a:chOff x="0" y="0"/>
            <a:chExt cx="2153169" cy="8548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3169" cy="854817"/>
            </a:xfrm>
            <a:custGeom>
              <a:avLst/>
              <a:gdLst/>
              <a:ahLst/>
              <a:cxnLst/>
              <a:rect r="r" b="b" t="t" l="l"/>
              <a:pathLst>
                <a:path h="854817" w="2153169">
                  <a:moveTo>
                    <a:pt x="44508" y="0"/>
                  </a:moveTo>
                  <a:lnTo>
                    <a:pt x="2108660" y="0"/>
                  </a:lnTo>
                  <a:cubicBezTo>
                    <a:pt x="2120465" y="0"/>
                    <a:pt x="2131785" y="4689"/>
                    <a:pt x="2140132" y="13036"/>
                  </a:cubicBezTo>
                  <a:cubicBezTo>
                    <a:pt x="2148479" y="21383"/>
                    <a:pt x="2153169" y="32704"/>
                    <a:pt x="2153169" y="44508"/>
                  </a:cubicBezTo>
                  <a:lnTo>
                    <a:pt x="2153169" y="810309"/>
                  </a:lnTo>
                  <a:cubicBezTo>
                    <a:pt x="2153169" y="834890"/>
                    <a:pt x="2133241" y="854817"/>
                    <a:pt x="2108660" y="854817"/>
                  </a:cubicBezTo>
                  <a:lnTo>
                    <a:pt x="44508" y="854817"/>
                  </a:lnTo>
                  <a:cubicBezTo>
                    <a:pt x="32704" y="854817"/>
                    <a:pt x="21383" y="850128"/>
                    <a:pt x="13036" y="841781"/>
                  </a:cubicBezTo>
                  <a:cubicBezTo>
                    <a:pt x="4689" y="833434"/>
                    <a:pt x="0" y="822113"/>
                    <a:pt x="0" y="810309"/>
                  </a:cubicBezTo>
                  <a:lnTo>
                    <a:pt x="0" y="44508"/>
                  </a:lnTo>
                  <a:cubicBezTo>
                    <a:pt x="0" y="32704"/>
                    <a:pt x="4689" y="21383"/>
                    <a:pt x="13036" y="13036"/>
                  </a:cubicBezTo>
                  <a:cubicBezTo>
                    <a:pt x="21383" y="4689"/>
                    <a:pt x="32704" y="0"/>
                    <a:pt x="44508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53169" cy="892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08177" y="7039409"/>
            <a:ext cx="7783373" cy="28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Implication:</a:t>
            </a:r>
          </a:p>
          <a:p>
            <a:pPr algn="l" marL="382115" indent="-191058" lvl="1">
              <a:lnSpc>
                <a:spcPts val="2477"/>
              </a:lnSpc>
              <a:buFont typeface="Arial"/>
              <a:buChar char="•"/>
            </a:pPr>
            <a:r>
              <a:rPr lang="en-US" b="true" sz="17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 not petty theft — it’s engineere</a:t>
            </a:r>
            <a:r>
              <a:rPr lang="en-US" b="true" sz="17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financial fraud.</a:t>
            </a:r>
          </a:p>
          <a:p>
            <a:pPr algn="l" marL="382115" indent="-191058" lvl="1">
              <a:lnSpc>
                <a:spcPts val="2477"/>
              </a:lnSpc>
              <a:buFont typeface="Arial"/>
              <a:buChar char="•"/>
            </a:pPr>
            <a:r>
              <a:rPr lang="en-US" b="true" sz="17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for:</a:t>
            </a:r>
          </a:p>
          <a:p>
            <a:pPr algn="l" marL="764231" indent="-254744" lvl="2">
              <a:lnSpc>
                <a:spcPts val="2477"/>
              </a:lnSpc>
              <a:buFont typeface="Arial"/>
              <a:buChar char="⚬"/>
            </a:pPr>
            <a:r>
              <a:rPr lang="en-US" b="true" sz="17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link analysis between suspicious sender-receiver chains</a:t>
            </a:r>
          </a:p>
          <a:p>
            <a:pPr algn="l" marL="764231" indent="-254744" lvl="2">
              <a:lnSpc>
                <a:spcPts val="2477"/>
              </a:lnSpc>
              <a:buFont typeface="Arial"/>
              <a:buChar char="⚬"/>
            </a:pPr>
            <a:r>
              <a:rPr lang="en-US" b="true" sz="17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clustering to detect multi-account fraud models</a:t>
            </a:r>
          </a:p>
          <a:p>
            <a:pPr algn="l" marL="764231" indent="-254744" lvl="2">
              <a:lnSpc>
                <a:spcPts val="2477"/>
              </a:lnSpc>
              <a:buFont typeface="Arial"/>
              <a:buChar char="⚬"/>
            </a:pPr>
            <a:r>
              <a:rPr lang="en-US" b="true" sz="17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Alerts when a user sends/receives the same fixed amount repeatedly</a:t>
            </a:r>
          </a:p>
          <a:p>
            <a:pPr algn="l">
              <a:lnSpc>
                <a:spcPts val="2477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7176968" y="3500898"/>
            <a:ext cx="1829186" cy="3047338"/>
            <a:chOff x="0" y="0"/>
            <a:chExt cx="481761" cy="802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1761" cy="802591"/>
            </a:xfrm>
            <a:custGeom>
              <a:avLst/>
              <a:gdLst/>
              <a:ahLst/>
              <a:cxnLst/>
              <a:rect r="r" b="b" t="t" l="l"/>
              <a:pathLst>
                <a:path h="802591" w="481761">
                  <a:moveTo>
                    <a:pt x="198925" y="0"/>
                  </a:moveTo>
                  <a:lnTo>
                    <a:pt x="282836" y="0"/>
                  </a:lnTo>
                  <a:cubicBezTo>
                    <a:pt x="335594" y="0"/>
                    <a:pt x="386192" y="20958"/>
                    <a:pt x="423497" y="58264"/>
                  </a:cubicBezTo>
                  <a:cubicBezTo>
                    <a:pt x="460803" y="95569"/>
                    <a:pt x="481761" y="146167"/>
                    <a:pt x="481761" y="198925"/>
                  </a:cubicBezTo>
                  <a:lnTo>
                    <a:pt x="481761" y="603666"/>
                  </a:lnTo>
                  <a:cubicBezTo>
                    <a:pt x="481761" y="656424"/>
                    <a:pt x="460803" y="707022"/>
                    <a:pt x="423497" y="744327"/>
                  </a:cubicBezTo>
                  <a:cubicBezTo>
                    <a:pt x="386192" y="781633"/>
                    <a:pt x="335594" y="802591"/>
                    <a:pt x="282836" y="802591"/>
                  </a:cubicBezTo>
                  <a:lnTo>
                    <a:pt x="198925" y="802591"/>
                  </a:lnTo>
                  <a:cubicBezTo>
                    <a:pt x="146167" y="802591"/>
                    <a:pt x="95569" y="781633"/>
                    <a:pt x="58264" y="744327"/>
                  </a:cubicBezTo>
                  <a:cubicBezTo>
                    <a:pt x="20958" y="707022"/>
                    <a:pt x="0" y="656424"/>
                    <a:pt x="0" y="603666"/>
                  </a:cubicBezTo>
                  <a:lnTo>
                    <a:pt x="0" y="198925"/>
                  </a:lnTo>
                  <a:cubicBezTo>
                    <a:pt x="0" y="146167"/>
                    <a:pt x="20958" y="95569"/>
                    <a:pt x="58264" y="58264"/>
                  </a:cubicBezTo>
                  <a:cubicBezTo>
                    <a:pt x="95569" y="20958"/>
                    <a:pt x="146167" y="0"/>
                    <a:pt x="198925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1761" cy="840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394271" y="3628235"/>
            <a:ext cx="1394580" cy="276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9"/>
              </a:lnSpc>
            </a:pPr>
            <a:r>
              <a:rPr lang="en-US" sz="1563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“Frau</a:t>
            </a:r>
            <a:r>
              <a:rPr lang="en-US" b="true" sz="1563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is not only timed — it’s templated. And every time this template runs, the system bleeds 10 million.”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7341" y="188452"/>
            <a:ext cx="8496645" cy="929576"/>
          </a:xfrm>
          <a:custGeom>
            <a:avLst/>
            <a:gdLst/>
            <a:ahLst/>
            <a:cxnLst/>
            <a:rect r="r" b="b" t="t" l="l"/>
            <a:pathLst>
              <a:path h="929576" w="8496645">
                <a:moveTo>
                  <a:pt x="0" y="0"/>
                </a:moveTo>
                <a:lnTo>
                  <a:pt x="8496644" y="0"/>
                </a:lnTo>
                <a:lnTo>
                  <a:pt x="8496644" y="929576"/>
                </a:lnTo>
                <a:lnTo>
                  <a:pt x="0" y="92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708" t="-206339" r="-104185" b="-39310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65291" y="1299373"/>
            <a:ext cx="8478694" cy="5187729"/>
            <a:chOff x="0" y="0"/>
            <a:chExt cx="2233072" cy="13663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3072" cy="1366316"/>
            </a:xfrm>
            <a:custGeom>
              <a:avLst/>
              <a:gdLst/>
              <a:ahLst/>
              <a:cxnLst/>
              <a:rect r="r" b="b" t="t" l="l"/>
              <a:pathLst>
                <a:path h="1366316" w="2233072">
                  <a:moveTo>
                    <a:pt x="32872" y="0"/>
                  </a:moveTo>
                  <a:lnTo>
                    <a:pt x="2200200" y="0"/>
                  </a:lnTo>
                  <a:cubicBezTo>
                    <a:pt x="2208918" y="0"/>
                    <a:pt x="2217279" y="3463"/>
                    <a:pt x="2223444" y="9628"/>
                  </a:cubicBezTo>
                  <a:cubicBezTo>
                    <a:pt x="2229608" y="15793"/>
                    <a:pt x="2233072" y="24154"/>
                    <a:pt x="2233072" y="32872"/>
                  </a:cubicBezTo>
                  <a:lnTo>
                    <a:pt x="2233072" y="1333444"/>
                  </a:lnTo>
                  <a:cubicBezTo>
                    <a:pt x="2233072" y="1342162"/>
                    <a:pt x="2229608" y="1350523"/>
                    <a:pt x="2223444" y="1356688"/>
                  </a:cubicBezTo>
                  <a:cubicBezTo>
                    <a:pt x="2217279" y="1362852"/>
                    <a:pt x="2208918" y="1366316"/>
                    <a:pt x="2200200" y="1366316"/>
                  </a:cubicBezTo>
                  <a:lnTo>
                    <a:pt x="32872" y="1366316"/>
                  </a:lnTo>
                  <a:cubicBezTo>
                    <a:pt x="24154" y="1366316"/>
                    <a:pt x="15793" y="1362852"/>
                    <a:pt x="9628" y="1356688"/>
                  </a:cubicBezTo>
                  <a:cubicBezTo>
                    <a:pt x="3463" y="1350523"/>
                    <a:pt x="0" y="1342162"/>
                    <a:pt x="0" y="1333444"/>
                  </a:cubicBezTo>
                  <a:lnTo>
                    <a:pt x="0" y="32872"/>
                  </a:lnTo>
                  <a:cubicBezTo>
                    <a:pt x="0" y="24154"/>
                    <a:pt x="3463" y="15793"/>
                    <a:pt x="9628" y="9628"/>
                  </a:cubicBezTo>
                  <a:cubicBezTo>
                    <a:pt x="15793" y="3463"/>
                    <a:pt x="24154" y="0"/>
                    <a:pt x="32872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3072" cy="1404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2105" y="6671882"/>
            <a:ext cx="8471880" cy="3283322"/>
            <a:chOff x="0" y="0"/>
            <a:chExt cx="2231277" cy="8647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1277" cy="864743"/>
            </a:xfrm>
            <a:custGeom>
              <a:avLst/>
              <a:gdLst/>
              <a:ahLst/>
              <a:cxnLst/>
              <a:rect r="r" b="b" t="t" l="l"/>
              <a:pathLst>
                <a:path h="864743" w="2231277">
                  <a:moveTo>
                    <a:pt x="32898" y="0"/>
                  </a:moveTo>
                  <a:lnTo>
                    <a:pt x="2198379" y="0"/>
                  </a:lnTo>
                  <a:cubicBezTo>
                    <a:pt x="2216548" y="0"/>
                    <a:pt x="2231277" y="14729"/>
                    <a:pt x="2231277" y="32898"/>
                  </a:cubicBezTo>
                  <a:lnTo>
                    <a:pt x="2231277" y="831845"/>
                  </a:lnTo>
                  <a:cubicBezTo>
                    <a:pt x="2231277" y="840570"/>
                    <a:pt x="2227811" y="848938"/>
                    <a:pt x="2221642" y="855108"/>
                  </a:cubicBezTo>
                  <a:cubicBezTo>
                    <a:pt x="2215472" y="861277"/>
                    <a:pt x="2207104" y="864743"/>
                    <a:pt x="2198379" y="864743"/>
                  </a:cubicBezTo>
                  <a:lnTo>
                    <a:pt x="32898" y="864743"/>
                  </a:lnTo>
                  <a:cubicBezTo>
                    <a:pt x="24173" y="864743"/>
                    <a:pt x="15805" y="861277"/>
                    <a:pt x="9636" y="855108"/>
                  </a:cubicBezTo>
                  <a:cubicBezTo>
                    <a:pt x="3466" y="848938"/>
                    <a:pt x="0" y="840570"/>
                    <a:pt x="0" y="831845"/>
                  </a:cubicBezTo>
                  <a:lnTo>
                    <a:pt x="0" y="32898"/>
                  </a:lnTo>
                  <a:cubicBezTo>
                    <a:pt x="0" y="24173"/>
                    <a:pt x="3466" y="15805"/>
                    <a:pt x="9636" y="9636"/>
                  </a:cubicBezTo>
                  <a:cubicBezTo>
                    <a:pt x="15805" y="3466"/>
                    <a:pt x="24173" y="0"/>
                    <a:pt x="32898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31277" cy="90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91675" y="9011732"/>
            <a:ext cx="8461692" cy="1077832"/>
            <a:chOff x="0" y="0"/>
            <a:chExt cx="2228594" cy="283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8594" cy="283874"/>
            </a:xfrm>
            <a:custGeom>
              <a:avLst/>
              <a:gdLst/>
              <a:ahLst/>
              <a:cxnLst/>
              <a:rect r="r" b="b" t="t" l="l"/>
              <a:pathLst>
                <a:path h="283874" w="2228594">
                  <a:moveTo>
                    <a:pt x="32938" y="0"/>
                  </a:moveTo>
                  <a:lnTo>
                    <a:pt x="2195656" y="0"/>
                  </a:lnTo>
                  <a:cubicBezTo>
                    <a:pt x="2213847" y="0"/>
                    <a:pt x="2228594" y="14747"/>
                    <a:pt x="2228594" y="32938"/>
                  </a:cubicBezTo>
                  <a:lnTo>
                    <a:pt x="2228594" y="250936"/>
                  </a:lnTo>
                  <a:cubicBezTo>
                    <a:pt x="2228594" y="259671"/>
                    <a:pt x="2225123" y="268049"/>
                    <a:pt x="2218946" y="274226"/>
                  </a:cubicBezTo>
                  <a:cubicBezTo>
                    <a:pt x="2212769" y="280403"/>
                    <a:pt x="2204391" y="283874"/>
                    <a:pt x="2195656" y="283874"/>
                  </a:cubicBezTo>
                  <a:lnTo>
                    <a:pt x="32938" y="283874"/>
                  </a:lnTo>
                  <a:cubicBezTo>
                    <a:pt x="14747" y="283874"/>
                    <a:pt x="0" y="269127"/>
                    <a:pt x="0" y="250936"/>
                  </a:cubicBezTo>
                  <a:lnTo>
                    <a:pt x="0" y="32938"/>
                  </a:lnTo>
                  <a:cubicBezTo>
                    <a:pt x="0" y="14747"/>
                    <a:pt x="14747" y="0"/>
                    <a:pt x="32938" y="0"/>
                  </a:cubicBezTo>
                  <a:close/>
                </a:path>
              </a:pathLst>
            </a:custGeom>
            <a:solidFill>
              <a:srgbClr val="B3F09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28594" cy="321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4158" y="256179"/>
            <a:ext cx="7347774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“Frau</a:t>
            </a:r>
            <a:r>
              <a:rPr lang="en-US" b="true" sz="210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Isn't Just Repeating — It's Replicating Across Channels”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567" y="1552330"/>
            <a:ext cx="8098957" cy="465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Takeaways:</a:t>
            </a:r>
          </a:p>
          <a:p>
            <a:pPr algn="l">
              <a:lnSpc>
                <a:spcPts val="2087"/>
              </a:lnSpc>
            </a:pP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1. Timed Fraud Patterns Persist in Transfer Transactions</a:t>
            </a: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 when we drill into only Transfer transactions, we see the same fraud spike steps as in CashOut:</a:t>
            </a: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 6, 15, 22, 34, 47, 58–59, 66</a:t>
            </a: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📌 Confirms this isn’t random — it’s a system-wide, time-coordinated attack strategy.</a:t>
            </a:r>
          </a:p>
          <a:p>
            <a:pPr algn="l">
              <a:lnSpc>
                <a:spcPts val="2087"/>
              </a:lnSpc>
            </a:pP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2. Top Fraud Users Show Scripted Behavior</a:t>
            </a: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top 10 senders and receivers in Transfer frauds show nearly identical amounts (10M).</a:t>
            </a: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📌 Indicates automation, mule accounts, or bots executing a predefined fraud template.</a:t>
            </a:r>
          </a:p>
          <a:p>
            <a:pPr algn="l">
              <a:lnSpc>
                <a:spcPts val="2087"/>
              </a:lnSpc>
            </a:pP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</a:t>
            </a: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3. ₹681.6M Lost — Zero Flagged</a:t>
            </a:r>
          </a:p>
          <a:p>
            <a:pPr algn="l">
              <a:lnSpc>
                <a:spcPts val="2087"/>
              </a:lnSpc>
            </a:pPr>
            <a:r>
              <a:rPr lang="en-US" sz="14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Despite high fraud volume and repetition, not a single Transfer fraud was flagged.</a:t>
            </a:r>
          </a:p>
          <a:p>
            <a:pPr algn="l">
              <a:lnSpc>
                <a:spcPts val="2227"/>
              </a:lnSpc>
            </a:pPr>
            <a:r>
              <a:rPr lang="en-US" sz="159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📌 Exposes a major weakness in existing fraud detection — rule-based flagging fails here.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3685" y="6824282"/>
            <a:ext cx="7828268" cy="302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8"/>
              </a:lnSpc>
            </a:pPr>
            <a:r>
              <a:rPr lang="en-US" sz="157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Frau</a:t>
            </a:r>
            <a:r>
              <a:rPr lang="en-US" sz="157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Behavior Transcends Transaction Labels</a:t>
            </a:r>
          </a:p>
          <a:p>
            <a:pPr algn="l">
              <a:lnSpc>
                <a:spcPts val="2198"/>
              </a:lnSpc>
            </a:pPr>
            <a:r>
              <a:rPr lang="en-US" sz="15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Despite changing from CashOut to Transfer, the fraudsters didn’t change strategy.</a:t>
            </a:r>
          </a:p>
          <a:p>
            <a:pPr algn="l">
              <a:lnSpc>
                <a:spcPts val="2198"/>
              </a:lnSpc>
            </a:pPr>
            <a:r>
              <a:rPr lang="en-US" sz="15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📌 This reveals something deeper: the fraud pattern isn’t tied to transaction types — it’s tied to fraud logic.</a:t>
            </a:r>
          </a:p>
          <a:p>
            <a:pPr algn="l">
              <a:lnSpc>
                <a:spcPts val="2198"/>
              </a:lnSpc>
            </a:pPr>
            <a:r>
              <a:rPr lang="en-US" sz="15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This is key because it:</a:t>
            </a:r>
          </a:p>
          <a:p>
            <a:pPr algn="l" marL="339084" indent="-169542" lvl="1">
              <a:lnSpc>
                <a:spcPts val="2198"/>
              </a:lnSpc>
              <a:buFont typeface="Arial"/>
              <a:buChar char="•"/>
            </a:pPr>
            <a:r>
              <a:rPr lang="en-US" b="true" sz="15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Shifts detection focus from “what kind of transaction” to “how the transaction behaves”</a:t>
            </a:r>
          </a:p>
          <a:p>
            <a:pPr algn="l" marL="339084" indent="-169542" lvl="1">
              <a:lnSpc>
                <a:spcPts val="2198"/>
              </a:lnSpc>
              <a:buFont typeface="Arial"/>
              <a:buChar char="•"/>
            </a:pPr>
            <a:r>
              <a:rPr lang="en-US" b="true" sz="15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for user- and behavior-based monitoring, not just transaction-type models</a:t>
            </a:r>
          </a:p>
          <a:p>
            <a:pPr algn="l">
              <a:lnSpc>
                <a:spcPts val="2198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9258300" y="639084"/>
            <a:ext cx="19050" cy="93136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591675" y="188452"/>
            <a:ext cx="8204591" cy="929576"/>
          </a:xfrm>
          <a:custGeom>
            <a:avLst/>
            <a:gdLst/>
            <a:ahLst/>
            <a:cxnLst/>
            <a:rect r="r" b="b" t="t" l="l"/>
            <a:pathLst>
              <a:path h="929576" w="8204591">
                <a:moveTo>
                  <a:pt x="0" y="0"/>
                </a:moveTo>
                <a:lnTo>
                  <a:pt x="8204591" y="0"/>
                </a:lnTo>
                <a:lnTo>
                  <a:pt x="8204591" y="929576"/>
                </a:lnTo>
                <a:lnTo>
                  <a:pt x="0" y="92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299" t="-206339" r="-113525" b="-39310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48132" y="394609"/>
            <a:ext cx="749167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“Wh</a:t>
            </a:r>
            <a:r>
              <a:rPr lang="en-US" b="true" sz="2500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If This Dashboard Could Defend Itself?”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943888" y="1227265"/>
            <a:ext cx="1667775" cy="812055"/>
            <a:chOff x="0" y="0"/>
            <a:chExt cx="439249" cy="2138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9249" cy="213875"/>
            </a:xfrm>
            <a:custGeom>
              <a:avLst/>
              <a:gdLst/>
              <a:ahLst/>
              <a:cxnLst/>
              <a:rect r="r" b="b" t="t" l="l"/>
              <a:pathLst>
                <a:path h="213875" w="439249">
                  <a:moveTo>
                    <a:pt x="106937" y="0"/>
                  </a:moveTo>
                  <a:lnTo>
                    <a:pt x="332312" y="0"/>
                  </a:lnTo>
                  <a:cubicBezTo>
                    <a:pt x="391372" y="0"/>
                    <a:pt x="439249" y="47877"/>
                    <a:pt x="439249" y="106937"/>
                  </a:cubicBezTo>
                  <a:lnTo>
                    <a:pt x="439249" y="106937"/>
                  </a:lnTo>
                  <a:cubicBezTo>
                    <a:pt x="439249" y="165997"/>
                    <a:pt x="391372" y="213875"/>
                    <a:pt x="332312" y="213875"/>
                  </a:cubicBezTo>
                  <a:lnTo>
                    <a:pt x="106937" y="213875"/>
                  </a:lnTo>
                  <a:cubicBezTo>
                    <a:pt x="47877" y="213875"/>
                    <a:pt x="0" y="165997"/>
                    <a:pt x="0" y="106937"/>
                  </a:cubicBezTo>
                  <a:lnTo>
                    <a:pt x="0" y="106937"/>
                  </a:lnTo>
                  <a:cubicBezTo>
                    <a:pt x="0" y="47877"/>
                    <a:pt x="47877" y="0"/>
                    <a:pt x="106937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9249" cy="2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206546" y="1368581"/>
            <a:ext cx="1142459" cy="47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</a:pPr>
            <a:r>
              <a:rPr lang="en-US" sz="2726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issues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83174" y="1227265"/>
            <a:ext cx="1733893" cy="824144"/>
            <a:chOff x="0" y="0"/>
            <a:chExt cx="456663" cy="2170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6663" cy="217058"/>
            </a:xfrm>
            <a:custGeom>
              <a:avLst/>
              <a:gdLst/>
              <a:ahLst/>
              <a:cxnLst/>
              <a:rect r="r" b="b" t="t" l="l"/>
              <a:pathLst>
                <a:path h="217058" w="456663">
                  <a:moveTo>
                    <a:pt x="108529" y="0"/>
                  </a:moveTo>
                  <a:lnTo>
                    <a:pt x="348134" y="0"/>
                  </a:lnTo>
                  <a:cubicBezTo>
                    <a:pt x="408073" y="0"/>
                    <a:pt x="456663" y="48590"/>
                    <a:pt x="456663" y="108529"/>
                  </a:cubicBezTo>
                  <a:lnTo>
                    <a:pt x="456663" y="108529"/>
                  </a:lnTo>
                  <a:cubicBezTo>
                    <a:pt x="456663" y="137313"/>
                    <a:pt x="445229" y="164918"/>
                    <a:pt x="424876" y="185271"/>
                  </a:cubicBezTo>
                  <a:cubicBezTo>
                    <a:pt x="404522" y="205624"/>
                    <a:pt x="376918" y="217058"/>
                    <a:pt x="348134" y="217058"/>
                  </a:cubicBezTo>
                  <a:lnTo>
                    <a:pt x="108529" y="217058"/>
                  </a:lnTo>
                  <a:cubicBezTo>
                    <a:pt x="79745" y="217058"/>
                    <a:pt x="52141" y="205624"/>
                    <a:pt x="31787" y="185271"/>
                  </a:cubicBezTo>
                  <a:cubicBezTo>
                    <a:pt x="11434" y="164918"/>
                    <a:pt x="0" y="137313"/>
                    <a:pt x="0" y="108529"/>
                  </a:cubicBezTo>
                  <a:lnTo>
                    <a:pt x="0" y="108529"/>
                  </a:lnTo>
                  <a:cubicBezTo>
                    <a:pt x="0" y="79745"/>
                    <a:pt x="11434" y="52141"/>
                    <a:pt x="31787" y="31787"/>
                  </a:cubicBezTo>
                  <a:cubicBezTo>
                    <a:pt x="52141" y="11434"/>
                    <a:pt x="79745" y="0"/>
                    <a:pt x="108529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6663" cy="255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57056" y="1354356"/>
            <a:ext cx="1760011" cy="54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5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fraud was flagged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960078" y="2139069"/>
            <a:ext cx="1733893" cy="824144"/>
            <a:chOff x="0" y="0"/>
            <a:chExt cx="456663" cy="2170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6663" cy="217058"/>
            </a:xfrm>
            <a:custGeom>
              <a:avLst/>
              <a:gdLst/>
              <a:ahLst/>
              <a:cxnLst/>
              <a:rect r="r" b="b" t="t" l="l"/>
              <a:pathLst>
                <a:path h="217058" w="456663">
                  <a:moveTo>
                    <a:pt x="108529" y="0"/>
                  </a:moveTo>
                  <a:lnTo>
                    <a:pt x="348134" y="0"/>
                  </a:lnTo>
                  <a:cubicBezTo>
                    <a:pt x="408073" y="0"/>
                    <a:pt x="456663" y="48590"/>
                    <a:pt x="456663" y="108529"/>
                  </a:cubicBezTo>
                  <a:lnTo>
                    <a:pt x="456663" y="108529"/>
                  </a:lnTo>
                  <a:cubicBezTo>
                    <a:pt x="456663" y="137313"/>
                    <a:pt x="445229" y="164918"/>
                    <a:pt x="424876" y="185271"/>
                  </a:cubicBezTo>
                  <a:cubicBezTo>
                    <a:pt x="404522" y="205624"/>
                    <a:pt x="376918" y="217058"/>
                    <a:pt x="348134" y="217058"/>
                  </a:cubicBezTo>
                  <a:lnTo>
                    <a:pt x="108529" y="217058"/>
                  </a:lnTo>
                  <a:cubicBezTo>
                    <a:pt x="79745" y="217058"/>
                    <a:pt x="52141" y="205624"/>
                    <a:pt x="31787" y="185271"/>
                  </a:cubicBezTo>
                  <a:cubicBezTo>
                    <a:pt x="11434" y="164918"/>
                    <a:pt x="0" y="137313"/>
                    <a:pt x="0" y="108529"/>
                  </a:cubicBezTo>
                  <a:lnTo>
                    <a:pt x="0" y="108529"/>
                  </a:lnTo>
                  <a:cubicBezTo>
                    <a:pt x="0" y="79745"/>
                    <a:pt x="11434" y="52141"/>
                    <a:pt x="31787" y="31787"/>
                  </a:cubicBezTo>
                  <a:cubicBezTo>
                    <a:pt x="52141" y="11434"/>
                    <a:pt x="79745" y="0"/>
                    <a:pt x="108529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56663" cy="255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139319" y="2146677"/>
            <a:ext cx="1375411" cy="79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9"/>
              </a:lnSpc>
            </a:pPr>
            <a:r>
              <a:rPr lang="en-US" sz="15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Beh</a:t>
            </a:r>
            <a:r>
              <a:rPr lang="en-US" b="true" sz="15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avior is repeated and templated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910941" y="2144095"/>
            <a:ext cx="1733893" cy="824144"/>
            <a:chOff x="0" y="0"/>
            <a:chExt cx="456663" cy="2170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663" cy="217058"/>
            </a:xfrm>
            <a:custGeom>
              <a:avLst/>
              <a:gdLst/>
              <a:ahLst/>
              <a:cxnLst/>
              <a:rect r="r" b="b" t="t" l="l"/>
              <a:pathLst>
                <a:path h="217058" w="456663">
                  <a:moveTo>
                    <a:pt x="108529" y="0"/>
                  </a:moveTo>
                  <a:lnTo>
                    <a:pt x="348134" y="0"/>
                  </a:lnTo>
                  <a:cubicBezTo>
                    <a:pt x="408073" y="0"/>
                    <a:pt x="456663" y="48590"/>
                    <a:pt x="456663" y="108529"/>
                  </a:cubicBezTo>
                  <a:lnTo>
                    <a:pt x="456663" y="108529"/>
                  </a:lnTo>
                  <a:cubicBezTo>
                    <a:pt x="456663" y="137313"/>
                    <a:pt x="445229" y="164918"/>
                    <a:pt x="424876" y="185271"/>
                  </a:cubicBezTo>
                  <a:cubicBezTo>
                    <a:pt x="404522" y="205624"/>
                    <a:pt x="376918" y="217058"/>
                    <a:pt x="348134" y="217058"/>
                  </a:cubicBezTo>
                  <a:lnTo>
                    <a:pt x="108529" y="217058"/>
                  </a:lnTo>
                  <a:cubicBezTo>
                    <a:pt x="79745" y="217058"/>
                    <a:pt x="52141" y="205624"/>
                    <a:pt x="31787" y="185271"/>
                  </a:cubicBezTo>
                  <a:cubicBezTo>
                    <a:pt x="11434" y="164918"/>
                    <a:pt x="0" y="137313"/>
                    <a:pt x="0" y="108529"/>
                  </a:cubicBezTo>
                  <a:lnTo>
                    <a:pt x="0" y="108529"/>
                  </a:lnTo>
                  <a:cubicBezTo>
                    <a:pt x="0" y="79745"/>
                    <a:pt x="11434" y="52141"/>
                    <a:pt x="31787" y="31787"/>
                  </a:cubicBezTo>
                  <a:cubicBezTo>
                    <a:pt x="52141" y="11434"/>
                    <a:pt x="79745" y="0"/>
                    <a:pt x="108529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56663" cy="255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179746" y="2146677"/>
            <a:ext cx="1277047" cy="7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"/>
              </a:lnSpc>
            </a:pPr>
            <a:r>
              <a:rPr lang="en-US" sz="151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Losses</a:t>
            </a:r>
            <a:r>
              <a:rPr lang="en-US" b="true" sz="15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were concentrated but missed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935513" y="1215176"/>
            <a:ext cx="1733893" cy="824144"/>
            <a:chOff x="0" y="0"/>
            <a:chExt cx="456663" cy="2170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663" cy="217058"/>
            </a:xfrm>
            <a:custGeom>
              <a:avLst/>
              <a:gdLst/>
              <a:ahLst/>
              <a:cxnLst/>
              <a:rect r="r" b="b" t="t" l="l"/>
              <a:pathLst>
                <a:path h="217058" w="456663">
                  <a:moveTo>
                    <a:pt x="108529" y="0"/>
                  </a:moveTo>
                  <a:lnTo>
                    <a:pt x="348134" y="0"/>
                  </a:lnTo>
                  <a:cubicBezTo>
                    <a:pt x="408073" y="0"/>
                    <a:pt x="456663" y="48590"/>
                    <a:pt x="456663" y="108529"/>
                  </a:cubicBezTo>
                  <a:lnTo>
                    <a:pt x="456663" y="108529"/>
                  </a:lnTo>
                  <a:cubicBezTo>
                    <a:pt x="456663" y="137313"/>
                    <a:pt x="445229" y="164918"/>
                    <a:pt x="424876" y="185271"/>
                  </a:cubicBezTo>
                  <a:cubicBezTo>
                    <a:pt x="404522" y="205624"/>
                    <a:pt x="376918" y="217058"/>
                    <a:pt x="348134" y="217058"/>
                  </a:cubicBezTo>
                  <a:lnTo>
                    <a:pt x="108529" y="217058"/>
                  </a:lnTo>
                  <a:cubicBezTo>
                    <a:pt x="79745" y="217058"/>
                    <a:pt x="52141" y="205624"/>
                    <a:pt x="31787" y="185271"/>
                  </a:cubicBezTo>
                  <a:cubicBezTo>
                    <a:pt x="11434" y="164918"/>
                    <a:pt x="0" y="137313"/>
                    <a:pt x="0" y="108529"/>
                  </a:cubicBezTo>
                  <a:lnTo>
                    <a:pt x="0" y="108529"/>
                  </a:lnTo>
                  <a:cubicBezTo>
                    <a:pt x="0" y="79745"/>
                    <a:pt x="11434" y="52141"/>
                    <a:pt x="31787" y="31787"/>
                  </a:cubicBezTo>
                  <a:cubicBezTo>
                    <a:pt x="52141" y="11434"/>
                    <a:pt x="79745" y="0"/>
                    <a:pt x="108529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56663" cy="255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5153849" y="1198690"/>
            <a:ext cx="1297221" cy="78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2"/>
              </a:lnSpc>
            </a:pPr>
            <a:r>
              <a:rPr lang="en-US" sz="15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15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tatistical models alone failed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546930" y="3273039"/>
            <a:ext cx="8506437" cy="5574710"/>
            <a:chOff x="0" y="0"/>
            <a:chExt cx="2240378" cy="14682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0378" cy="1468236"/>
            </a:xfrm>
            <a:custGeom>
              <a:avLst/>
              <a:gdLst/>
              <a:ahLst/>
              <a:cxnLst/>
              <a:rect r="r" b="b" t="t" l="l"/>
              <a:pathLst>
                <a:path h="1468236" w="2240378">
                  <a:moveTo>
                    <a:pt x="32764" y="0"/>
                  </a:moveTo>
                  <a:lnTo>
                    <a:pt x="2207614" y="0"/>
                  </a:lnTo>
                  <a:cubicBezTo>
                    <a:pt x="2225709" y="0"/>
                    <a:pt x="2240378" y="14669"/>
                    <a:pt x="2240378" y="32764"/>
                  </a:cubicBezTo>
                  <a:lnTo>
                    <a:pt x="2240378" y="1435472"/>
                  </a:lnTo>
                  <a:cubicBezTo>
                    <a:pt x="2240378" y="1444161"/>
                    <a:pt x="2236926" y="1452495"/>
                    <a:pt x="2230782" y="1458640"/>
                  </a:cubicBezTo>
                  <a:cubicBezTo>
                    <a:pt x="2224637" y="1464784"/>
                    <a:pt x="2216303" y="1468236"/>
                    <a:pt x="2207614" y="1468236"/>
                  </a:cubicBezTo>
                  <a:lnTo>
                    <a:pt x="32764" y="1468236"/>
                  </a:lnTo>
                  <a:cubicBezTo>
                    <a:pt x="14669" y="1468236"/>
                    <a:pt x="0" y="1453567"/>
                    <a:pt x="0" y="1435472"/>
                  </a:cubicBezTo>
                  <a:lnTo>
                    <a:pt x="0" y="32764"/>
                  </a:lnTo>
                  <a:cubicBezTo>
                    <a:pt x="0" y="14669"/>
                    <a:pt x="14669" y="0"/>
                    <a:pt x="32764" y="0"/>
                  </a:cubicBezTo>
                  <a:close/>
                </a:path>
              </a:pathLst>
            </a:custGeom>
            <a:solidFill>
              <a:srgbClr val="D3CBF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240378" cy="1506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782175" y="3339714"/>
            <a:ext cx="8014091" cy="532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🛡️ </a:t>
            </a:r>
            <a:r>
              <a:rPr lang="en-US" sz="151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 Build a Hybrid Fraud Defense Engine</a:t>
            </a:r>
          </a:p>
          <a:p>
            <a:pPr algn="l">
              <a:lnSpc>
                <a:spcPts val="2115"/>
              </a:lnSpc>
            </a:pP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</a:t>
            </a:r>
            <a:r>
              <a:rPr lang="en-US" sz="151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Behavior-</a:t>
            </a:r>
            <a:r>
              <a:rPr lang="en-US" sz="151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Aware Alerting System</a:t>
            </a: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 models not just on fraud counts, but on: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Timing (steps)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Repetitive user patterns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Fixed transaction amounts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Cross-type replication</a:t>
            </a: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isn’t just anomaly detection — it’s fraud behavior modeling.</a:t>
            </a:r>
          </a:p>
          <a:p>
            <a:pPr algn="l">
              <a:lnSpc>
                <a:spcPts val="2115"/>
              </a:lnSpc>
            </a:pP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151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Auto-Learn from Spikes</a:t>
            </a: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Whenever a fraud spike is detected —</a:t>
            </a: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store its signature (step, amount, user type) and feed it back into alert logic.</a:t>
            </a: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-&gt; Create a self-improving fraud firewall.</a:t>
            </a:r>
          </a:p>
          <a:p>
            <a:pPr algn="l">
              <a:lnSpc>
                <a:spcPts val="2115"/>
              </a:lnSpc>
            </a:pP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</a:t>
            </a:r>
            <a:r>
              <a:rPr lang="en-US" sz="1511" b="true">
                <a:solidFill>
                  <a:srgbClr val="F10F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Explainable AI Layer</a:t>
            </a:r>
          </a:p>
          <a:p>
            <a:pPr algn="l">
              <a:lnSpc>
                <a:spcPts val="2115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 an Explainable ML model that not only flags a transaction but explains: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“Why was this flagged?”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“What’s similar to previous frauds?”</a:t>
            </a:r>
          </a:p>
          <a:p>
            <a:pPr algn="l" marL="326298" indent="-163149" lvl="1">
              <a:lnSpc>
                <a:spcPts val="2115"/>
              </a:lnSpc>
              <a:buFont typeface="Arial"/>
              <a:buChar char="•"/>
            </a:pPr>
            <a:r>
              <a:rPr lang="en-US" b="true" sz="1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“Has this pattern been seen in another transaction type?”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70730" y="9068993"/>
            <a:ext cx="8014091" cy="90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sz="2574" b="true">
                <a:solidFill>
                  <a:srgbClr val="038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“We </a:t>
            </a:r>
            <a:r>
              <a:rPr lang="en-US" b="true" sz="2574">
                <a:solidFill>
                  <a:srgbClr val="038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didn’t just find fraud. We mapped its DNA — and built a plan to intercept its next move.”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3281" y="4506172"/>
            <a:ext cx="798143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0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22922" y="4265374"/>
            <a:ext cx="4824656" cy="1224546"/>
            <a:chOff x="0" y="0"/>
            <a:chExt cx="1270691" cy="322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691" cy="322514"/>
            </a:xfrm>
            <a:custGeom>
              <a:avLst/>
              <a:gdLst/>
              <a:ahLst/>
              <a:cxnLst/>
              <a:rect r="r" b="b" t="t" l="l"/>
              <a:pathLst>
                <a:path h="322514" w="1270691">
                  <a:moveTo>
                    <a:pt x="160466" y="0"/>
                  </a:moveTo>
                  <a:lnTo>
                    <a:pt x="1110225" y="0"/>
                  </a:lnTo>
                  <a:cubicBezTo>
                    <a:pt x="1198848" y="0"/>
                    <a:pt x="1270691" y="71843"/>
                    <a:pt x="1270691" y="160466"/>
                  </a:cubicBezTo>
                  <a:lnTo>
                    <a:pt x="1270691" y="162048"/>
                  </a:lnTo>
                  <a:cubicBezTo>
                    <a:pt x="1270691" y="204607"/>
                    <a:pt x="1253785" y="245422"/>
                    <a:pt x="1223692" y="275515"/>
                  </a:cubicBezTo>
                  <a:cubicBezTo>
                    <a:pt x="1193599" y="305608"/>
                    <a:pt x="1152784" y="322514"/>
                    <a:pt x="1110225" y="322514"/>
                  </a:cubicBezTo>
                  <a:lnTo>
                    <a:pt x="160466" y="322514"/>
                  </a:lnTo>
                  <a:cubicBezTo>
                    <a:pt x="71843" y="322514"/>
                    <a:pt x="0" y="250671"/>
                    <a:pt x="0" y="162048"/>
                  </a:cubicBezTo>
                  <a:lnTo>
                    <a:pt x="0" y="160466"/>
                  </a:lnTo>
                  <a:cubicBezTo>
                    <a:pt x="0" y="71843"/>
                    <a:pt x="71843" y="0"/>
                    <a:pt x="1604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0691" cy="360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80997">
            <a:off x="10862596" y="3597860"/>
            <a:ext cx="1369964" cy="1440688"/>
          </a:xfrm>
          <a:custGeom>
            <a:avLst/>
            <a:gdLst/>
            <a:ahLst/>
            <a:cxnLst/>
            <a:rect r="r" b="b" t="t" l="l"/>
            <a:pathLst>
              <a:path h="1440688" w="1369964">
                <a:moveTo>
                  <a:pt x="0" y="0"/>
                </a:moveTo>
                <a:lnTo>
                  <a:pt x="1369964" y="0"/>
                </a:lnTo>
                <a:lnTo>
                  <a:pt x="1369964" y="1440688"/>
                </a:lnTo>
                <a:lnTo>
                  <a:pt x="0" y="144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DAGqBvtl_zE</dc:identifier>
  <dcterms:modified xsi:type="dcterms:W3CDTF">2011-08-01T06:04:30Z</dcterms:modified>
  <cp:revision>1</cp:revision>
  <dc:title>"Combating Fraud in Digital Financial Systems: Insights from the PaySim Dataset"</dc:title>
</cp:coreProperties>
</file>